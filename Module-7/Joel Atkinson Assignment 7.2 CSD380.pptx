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35"/>
    <p:restoredTop sz="94694"/>
  </p:normalViewPr>
  <p:slideViewPr>
    <p:cSldViewPr snapToGrid="0">
      <p:cViewPr varScale="1">
        <p:scale>
          <a:sx n="117" d="100"/>
          <a:sy n="117" d="100"/>
        </p:scale>
        <p:origin x="208"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2/19/26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49623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2/19/26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66929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2/19/26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4869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0986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2/19/26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61267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2/19/26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53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2/19/26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78433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10206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2/19/26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2612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152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51033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04466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67041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2/19/26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6590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2/19/26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69496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2/19/26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40689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2/19/26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80234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2/19/26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019192565"/>
      </p:ext>
    </p:extLst>
  </p:cSld>
  <p:clrMap bg1="dk1" tx1="lt1" bg2="dk2" tx2="lt2" accent1="accent1" accent2="accent2" accent3="accent3" accent4="accent4" accent5="accent5" accent6="accent6" hlink="hlink" folHlink="folHlink"/>
  <p:sldLayoutIdLst>
    <p:sldLayoutId id="2147483756" r:id="rId1"/>
    <p:sldLayoutId id="2147483757"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Lst>
  <p:hf sldNum="0" hdr="0" ftr="0" dt="0"/>
  <p:txStyles>
    <p:titleStyle>
      <a:lvl1pPr algn="ctr" defTabSz="457200" rtl="0" eaLnBrk="1" latinLnBrk="0" hangingPunct="1">
        <a:lnSpc>
          <a:spcPct val="90000"/>
        </a:lnSpc>
        <a:spcBef>
          <a:spcPct val="0"/>
        </a:spcBef>
        <a:buNone/>
        <a:defRPr sz="3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110000"/>
        </a:lnSpc>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hyperlink" Target="https://www.agilecrm.com/service-automation/how-important-is-helpdesk-for-your-business"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pages.eml.atlassian.com/rs/594-ATC-127/images/Whitepaper-Scaling-On-Call-Dev-Ops-Organization.pdf" TargetMode="External"/><Relationship Id="rId7" Type="http://schemas.openxmlformats.org/officeDocument/2006/relationships/hyperlink" Target="https://www.pagerduty.com/resources/incident-management-response/learn/call-rotations-schedules/" TargetMode="External"/><Relationship Id="rId2" Type="http://schemas.openxmlformats.org/officeDocument/2006/relationships/hyperlink" Target="https://www.agilecrm.com/service-automation/how-important-is-helpdesk-for-your-business" TargetMode="External"/><Relationship Id="rId1" Type="http://schemas.openxmlformats.org/officeDocument/2006/relationships/slideLayout" Target="../slideLayouts/slideLayout2.xml"/><Relationship Id="rId6" Type="http://schemas.openxmlformats.org/officeDocument/2006/relationships/hyperlink" Target="http://moss.sh/devops-monitoring/devops-on-call-rotation-setup/" TargetMode="External"/><Relationship Id="rId5" Type="http://schemas.openxmlformats.org/officeDocument/2006/relationships/hyperlink" Target="https://medium.com/@alertsleep/how-to-run-effective-on-call-rotations-without-burning-out-your-devops-team-c2b40db98311" TargetMode="External"/><Relationship Id="rId4" Type="http://schemas.openxmlformats.org/officeDocument/2006/relationships/hyperlink" Target="https://sre.google/workbook/on-cal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F8ADB9-1893-310E-ED62-1716652137C7}"/>
              </a:ext>
            </a:extLst>
          </p:cNvPr>
          <p:cNvPicPr>
            <a:picLocks noChangeAspect="1"/>
          </p:cNvPicPr>
          <p:nvPr/>
        </p:nvPicPr>
        <p:blipFill>
          <a:blip r:embed="rId3"/>
          <a:srcRect t="25000"/>
          <a:stretch>
            <a:fillRect/>
          </a:stretch>
        </p:blipFill>
        <p:spPr>
          <a:xfrm>
            <a:off x="-1" y="0"/>
            <a:ext cx="12192001" cy="6857990"/>
          </a:xfrm>
          <a:prstGeom prst="rect">
            <a:avLst/>
          </a:prstGeom>
        </p:spPr>
      </p:pic>
      <p:sp useBgFill="1">
        <p:nvSpPr>
          <p:cNvPr id="9"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6A176D38-3640-9744-418D-0915BB45684E}"/>
              </a:ext>
            </a:extLst>
          </p:cNvPr>
          <p:cNvSpPr>
            <a:spLocks noGrp="1"/>
          </p:cNvSpPr>
          <p:nvPr>
            <p:ph type="ctrTitle"/>
          </p:nvPr>
        </p:nvSpPr>
        <p:spPr>
          <a:xfrm>
            <a:off x="7022393" y="1580423"/>
            <a:ext cx="4250246" cy="1443170"/>
          </a:xfrm>
        </p:spPr>
        <p:txBody>
          <a:bodyPr>
            <a:normAutofit/>
          </a:bodyPr>
          <a:lstStyle/>
          <a:p>
            <a:r>
              <a:rPr lang="en-US" sz="4000" dirty="0"/>
              <a:t>Pager Rotation Duties in DevOps</a:t>
            </a:r>
          </a:p>
        </p:txBody>
      </p:sp>
      <p:sp>
        <p:nvSpPr>
          <p:cNvPr id="3" name="Subtitle 2">
            <a:extLst>
              <a:ext uri="{FF2B5EF4-FFF2-40B4-BE49-F238E27FC236}">
                <a16:creationId xmlns:a16="http://schemas.microsoft.com/office/drawing/2014/main" id="{CAC65C5A-E928-1BD0-E305-2B0AB5933909}"/>
              </a:ext>
            </a:extLst>
          </p:cNvPr>
          <p:cNvSpPr>
            <a:spLocks noGrp="1"/>
          </p:cNvSpPr>
          <p:nvPr>
            <p:ph type="subTitle" idx="1"/>
          </p:nvPr>
        </p:nvSpPr>
        <p:spPr>
          <a:xfrm>
            <a:off x="7177202" y="3213367"/>
            <a:ext cx="3940628" cy="1026544"/>
          </a:xfrm>
        </p:spPr>
        <p:txBody>
          <a:bodyPr>
            <a:noAutofit/>
          </a:bodyPr>
          <a:lstStyle/>
          <a:p>
            <a:r>
              <a:rPr lang="en-US" sz="2200" dirty="0">
                <a:solidFill>
                  <a:srgbClr val="5D98D7"/>
                </a:solidFill>
              </a:rPr>
              <a:t>Joel Atkinson</a:t>
            </a:r>
          </a:p>
          <a:p>
            <a:r>
              <a:rPr lang="en-US" sz="2200" dirty="0">
                <a:solidFill>
                  <a:srgbClr val="5D98D7"/>
                </a:solidFill>
              </a:rPr>
              <a:t>February 18, 2026</a:t>
            </a:r>
          </a:p>
          <a:p>
            <a:r>
              <a:rPr lang="en-US" sz="2200" dirty="0">
                <a:solidFill>
                  <a:srgbClr val="5D98D7"/>
                </a:solidFill>
              </a:rPr>
              <a:t>CSD380 DevOps </a:t>
            </a:r>
          </a:p>
          <a:p>
            <a:r>
              <a:rPr lang="en-US" sz="2200" dirty="0">
                <a:solidFill>
                  <a:srgbClr val="5D98D7"/>
                </a:solidFill>
              </a:rPr>
              <a:t>Assignment 7.2</a:t>
            </a:r>
          </a:p>
        </p:txBody>
      </p:sp>
    </p:spTree>
    <p:extLst>
      <p:ext uri="{BB962C8B-B14F-4D97-AF65-F5344CB8AC3E}">
        <p14:creationId xmlns:p14="http://schemas.microsoft.com/office/powerpoint/2010/main" val="2818932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C224410-FF86-4FBB-A05E-61232D4B1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2" y="-2"/>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F3BDD110-869E-4A8C-9250-C7AE5C840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2" y="-2"/>
            <a:ext cx="6088698" cy="6858002"/>
          </a:xfrm>
          <a:custGeom>
            <a:avLst/>
            <a:gdLst>
              <a:gd name="connsiteX0" fmla="*/ 0 w 6088698"/>
              <a:gd name="connsiteY0" fmla="*/ 0 h 6858002"/>
              <a:gd name="connsiteX1" fmla="*/ 2610464 w 6088698"/>
              <a:gd name="connsiteY1" fmla="*/ 0 h 6858002"/>
              <a:gd name="connsiteX2" fmla="*/ 2610464 w 6088698"/>
              <a:gd name="connsiteY2" fmla="*/ 3 h 6858002"/>
              <a:gd name="connsiteX3" fmla="*/ 5749313 w 6088698"/>
              <a:gd name="connsiteY3" fmla="*/ 3 h 6858002"/>
              <a:gd name="connsiteX4" fmla="*/ 5749313 w 6088698"/>
              <a:gd name="connsiteY4" fmla="*/ 4 h 6858002"/>
              <a:gd name="connsiteX5" fmla="*/ 5740011 w 6088698"/>
              <a:gd name="connsiteY5" fmla="*/ 4 h 6858002"/>
              <a:gd name="connsiteX6" fmla="*/ 5748114 w 6088698"/>
              <a:gd name="connsiteY6" fmla="*/ 40466 h 6858002"/>
              <a:gd name="connsiteX7" fmla="*/ 5771963 w 6088698"/>
              <a:gd name="connsiteY7" fmla="*/ 159110 h 6858002"/>
              <a:gd name="connsiteX8" fmla="*/ 5788633 w 6088698"/>
              <a:gd name="connsiteY8" fmla="*/ 245521 h 6858002"/>
              <a:gd name="connsiteX9" fmla="*/ 5806229 w 6088698"/>
              <a:gd name="connsiteY9" fmla="*/ 348391 h 6858002"/>
              <a:gd name="connsiteX10" fmla="*/ 5827299 w 6088698"/>
              <a:gd name="connsiteY10" fmla="*/ 470463 h 6858002"/>
              <a:gd name="connsiteX11" fmla="*/ 5849526 w 6088698"/>
              <a:gd name="connsiteY11" fmla="*/ 605566 h 6858002"/>
              <a:gd name="connsiteX12" fmla="*/ 5872911 w 6088698"/>
              <a:gd name="connsiteY12" fmla="*/ 757813 h 6858002"/>
              <a:gd name="connsiteX13" fmla="*/ 5897684 w 6088698"/>
              <a:gd name="connsiteY13" fmla="*/ 923777 h 6858002"/>
              <a:gd name="connsiteX14" fmla="*/ 5922459 w 6088698"/>
              <a:gd name="connsiteY14" fmla="*/ 1104142 h 6858002"/>
              <a:gd name="connsiteX15" fmla="*/ 5947695 w 6088698"/>
              <a:gd name="connsiteY15" fmla="*/ 1296166 h 6858002"/>
              <a:gd name="connsiteX16" fmla="*/ 5971079 w 6088698"/>
              <a:gd name="connsiteY16" fmla="*/ 1503278 h 6858002"/>
              <a:gd name="connsiteX17" fmla="*/ 5993538 w 6088698"/>
              <a:gd name="connsiteY17" fmla="*/ 1719991 h 6858002"/>
              <a:gd name="connsiteX18" fmla="*/ 6013913 w 6088698"/>
              <a:gd name="connsiteY18" fmla="*/ 1949048 h 6858002"/>
              <a:gd name="connsiteX19" fmla="*/ 6033361 w 6088698"/>
              <a:gd name="connsiteY19" fmla="*/ 2187706 h 6858002"/>
              <a:gd name="connsiteX20" fmla="*/ 6051654 w 6088698"/>
              <a:gd name="connsiteY20" fmla="*/ 2436652 h 6858002"/>
              <a:gd name="connsiteX21" fmla="*/ 6058136 w 6088698"/>
              <a:gd name="connsiteY21" fmla="*/ 2564211 h 6858002"/>
              <a:gd name="connsiteX22" fmla="*/ 6065314 w 6088698"/>
              <a:gd name="connsiteY22" fmla="*/ 2694512 h 6858002"/>
              <a:gd name="connsiteX23" fmla="*/ 6072027 w 6088698"/>
              <a:gd name="connsiteY23" fmla="*/ 2826871 h 6858002"/>
              <a:gd name="connsiteX24" fmla="*/ 6076427 w 6088698"/>
              <a:gd name="connsiteY24" fmla="*/ 2959917 h 6858002"/>
              <a:gd name="connsiteX25" fmla="*/ 6080363 w 6088698"/>
              <a:gd name="connsiteY25" fmla="*/ 3095705 h 6858002"/>
              <a:gd name="connsiteX26" fmla="*/ 6084530 w 6088698"/>
              <a:gd name="connsiteY26" fmla="*/ 3232865 h 6858002"/>
              <a:gd name="connsiteX27" fmla="*/ 6087308 w 6088698"/>
              <a:gd name="connsiteY27" fmla="*/ 3372768 h 6858002"/>
              <a:gd name="connsiteX28" fmla="*/ 6087308 w 6088698"/>
              <a:gd name="connsiteY28" fmla="*/ 3514043 h 6858002"/>
              <a:gd name="connsiteX29" fmla="*/ 6088698 w 6088698"/>
              <a:gd name="connsiteY29" fmla="*/ 3656689 h 6858002"/>
              <a:gd name="connsiteX30" fmla="*/ 6087308 w 6088698"/>
              <a:gd name="connsiteY30" fmla="*/ 3800707 h 6858002"/>
              <a:gd name="connsiteX31" fmla="*/ 6084530 w 6088698"/>
              <a:gd name="connsiteY31" fmla="*/ 3946783 h 6858002"/>
              <a:gd name="connsiteX32" fmla="*/ 6081983 w 6088698"/>
              <a:gd name="connsiteY32" fmla="*/ 4092858 h 6858002"/>
              <a:gd name="connsiteX33" fmla="*/ 6076427 w 6088698"/>
              <a:gd name="connsiteY33" fmla="*/ 4240991 h 6858002"/>
              <a:gd name="connsiteX34" fmla="*/ 6070639 w 6088698"/>
              <a:gd name="connsiteY34" fmla="*/ 4390495 h 6858002"/>
              <a:gd name="connsiteX35" fmla="*/ 6063924 w 6088698"/>
              <a:gd name="connsiteY35" fmla="*/ 4540000 h 6858002"/>
              <a:gd name="connsiteX36" fmla="*/ 6054432 w 6088698"/>
              <a:gd name="connsiteY36" fmla="*/ 4690876 h 6858002"/>
              <a:gd name="connsiteX37" fmla="*/ 6043086 w 6088698"/>
              <a:gd name="connsiteY37" fmla="*/ 4843123 h 6858002"/>
              <a:gd name="connsiteX38" fmla="*/ 6032204 w 6088698"/>
              <a:gd name="connsiteY38" fmla="*/ 4996057 h 6858002"/>
              <a:gd name="connsiteX39" fmla="*/ 6018313 w 6088698"/>
              <a:gd name="connsiteY39" fmla="*/ 5148990 h 6858002"/>
              <a:gd name="connsiteX40" fmla="*/ 6001642 w 6088698"/>
              <a:gd name="connsiteY40" fmla="*/ 5303981 h 6858002"/>
              <a:gd name="connsiteX41" fmla="*/ 5984972 w 6088698"/>
              <a:gd name="connsiteY41" fmla="*/ 5456914 h 6858002"/>
              <a:gd name="connsiteX42" fmla="*/ 5965754 w 6088698"/>
              <a:gd name="connsiteY42" fmla="*/ 5612591 h 6858002"/>
              <a:gd name="connsiteX43" fmla="*/ 5944685 w 6088698"/>
              <a:gd name="connsiteY43" fmla="*/ 5768953 h 6858002"/>
              <a:gd name="connsiteX44" fmla="*/ 5922459 w 6088698"/>
              <a:gd name="connsiteY44" fmla="*/ 5923258 h 6858002"/>
              <a:gd name="connsiteX45" fmla="*/ 5896527 w 6088698"/>
              <a:gd name="connsiteY45" fmla="*/ 6079621 h 6858002"/>
              <a:gd name="connsiteX46" fmla="*/ 5868743 w 6088698"/>
              <a:gd name="connsiteY46" fmla="*/ 6235297 h 6858002"/>
              <a:gd name="connsiteX47" fmla="*/ 5841190 w 6088698"/>
              <a:gd name="connsiteY47" fmla="*/ 6391660 h 6858002"/>
              <a:gd name="connsiteX48" fmla="*/ 5809008 w 6088698"/>
              <a:gd name="connsiteY48" fmla="*/ 6547336 h 6858002"/>
              <a:gd name="connsiteX49" fmla="*/ 5776130 w 6088698"/>
              <a:gd name="connsiteY49" fmla="*/ 6702327 h 6858002"/>
              <a:gd name="connsiteX50" fmla="*/ 5741633 w 6088698"/>
              <a:gd name="connsiteY50" fmla="*/ 6858002 h 6858002"/>
              <a:gd name="connsiteX51" fmla="*/ 2610464 w 6088698"/>
              <a:gd name="connsiteY51" fmla="*/ 6858002 h 6858002"/>
              <a:gd name="connsiteX52" fmla="*/ 0 w 6088698"/>
              <a:gd name="connsiteY52"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88698" h="6858002">
                <a:moveTo>
                  <a:pt x="0" y="0"/>
                </a:moveTo>
                <a:lnTo>
                  <a:pt x="2610464" y="0"/>
                </a:lnTo>
                <a:lnTo>
                  <a:pt x="2610464" y="3"/>
                </a:lnTo>
                <a:lnTo>
                  <a:pt x="5749313" y="3"/>
                </a:lnTo>
                <a:lnTo>
                  <a:pt x="5749313" y="4"/>
                </a:lnTo>
                <a:lnTo>
                  <a:pt x="5740011" y="4"/>
                </a:lnTo>
                <a:lnTo>
                  <a:pt x="5748114" y="40466"/>
                </a:lnTo>
                <a:lnTo>
                  <a:pt x="5771963" y="159110"/>
                </a:lnTo>
                <a:lnTo>
                  <a:pt x="5788633" y="245521"/>
                </a:lnTo>
                <a:lnTo>
                  <a:pt x="5806229" y="348391"/>
                </a:lnTo>
                <a:lnTo>
                  <a:pt x="5827299" y="470463"/>
                </a:lnTo>
                <a:lnTo>
                  <a:pt x="5849526" y="605566"/>
                </a:lnTo>
                <a:lnTo>
                  <a:pt x="5872911" y="757813"/>
                </a:lnTo>
                <a:lnTo>
                  <a:pt x="5897684" y="923777"/>
                </a:lnTo>
                <a:lnTo>
                  <a:pt x="5922459" y="1104142"/>
                </a:lnTo>
                <a:lnTo>
                  <a:pt x="5947695" y="1296166"/>
                </a:lnTo>
                <a:lnTo>
                  <a:pt x="5971079" y="1503278"/>
                </a:lnTo>
                <a:lnTo>
                  <a:pt x="5993538" y="1719991"/>
                </a:lnTo>
                <a:lnTo>
                  <a:pt x="6013913" y="1949048"/>
                </a:lnTo>
                <a:lnTo>
                  <a:pt x="6033361" y="2187706"/>
                </a:lnTo>
                <a:lnTo>
                  <a:pt x="6051654" y="2436652"/>
                </a:lnTo>
                <a:lnTo>
                  <a:pt x="6058136" y="2564211"/>
                </a:lnTo>
                <a:lnTo>
                  <a:pt x="6065314" y="2694512"/>
                </a:lnTo>
                <a:lnTo>
                  <a:pt x="6072027" y="2826871"/>
                </a:lnTo>
                <a:lnTo>
                  <a:pt x="6076427" y="2959917"/>
                </a:lnTo>
                <a:lnTo>
                  <a:pt x="6080363" y="3095705"/>
                </a:lnTo>
                <a:lnTo>
                  <a:pt x="6084530" y="3232865"/>
                </a:lnTo>
                <a:lnTo>
                  <a:pt x="6087308" y="3372768"/>
                </a:lnTo>
                <a:lnTo>
                  <a:pt x="6087308" y="3514043"/>
                </a:lnTo>
                <a:lnTo>
                  <a:pt x="6088698" y="3656689"/>
                </a:lnTo>
                <a:lnTo>
                  <a:pt x="6087308" y="3800707"/>
                </a:lnTo>
                <a:lnTo>
                  <a:pt x="6084530" y="3946783"/>
                </a:lnTo>
                <a:lnTo>
                  <a:pt x="6081983" y="4092858"/>
                </a:lnTo>
                <a:lnTo>
                  <a:pt x="6076427" y="4240991"/>
                </a:lnTo>
                <a:lnTo>
                  <a:pt x="6070639" y="4390495"/>
                </a:lnTo>
                <a:lnTo>
                  <a:pt x="6063924" y="4540000"/>
                </a:lnTo>
                <a:lnTo>
                  <a:pt x="6054432" y="4690876"/>
                </a:lnTo>
                <a:lnTo>
                  <a:pt x="6043086" y="4843123"/>
                </a:lnTo>
                <a:lnTo>
                  <a:pt x="6032204" y="4996057"/>
                </a:lnTo>
                <a:lnTo>
                  <a:pt x="6018313" y="5148990"/>
                </a:lnTo>
                <a:lnTo>
                  <a:pt x="6001642" y="5303981"/>
                </a:lnTo>
                <a:lnTo>
                  <a:pt x="5984972" y="5456914"/>
                </a:lnTo>
                <a:lnTo>
                  <a:pt x="5965754" y="5612591"/>
                </a:lnTo>
                <a:lnTo>
                  <a:pt x="5944685" y="5768953"/>
                </a:lnTo>
                <a:lnTo>
                  <a:pt x="5922459" y="5923258"/>
                </a:lnTo>
                <a:lnTo>
                  <a:pt x="5896527" y="6079621"/>
                </a:lnTo>
                <a:lnTo>
                  <a:pt x="5868743" y="6235297"/>
                </a:lnTo>
                <a:lnTo>
                  <a:pt x="5841190" y="6391660"/>
                </a:lnTo>
                <a:lnTo>
                  <a:pt x="5809008" y="6547336"/>
                </a:lnTo>
                <a:lnTo>
                  <a:pt x="5776130" y="6702327"/>
                </a:lnTo>
                <a:lnTo>
                  <a:pt x="5741633" y="6858002"/>
                </a:lnTo>
                <a:lnTo>
                  <a:pt x="2610464" y="6858002"/>
                </a:lnTo>
                <a:lnTo>
                  <a:pt x="0" y="6858002"/>
                </a:lnTo>
                <a:close/>
              </a:path>
            </a:pathLst>
          </a:cu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A955AD0-2C75-03CB-B7AE-54DE75F7B79D}"/>
              </a:ext>
            </a:extLst>
          </p:cNvPr>
          <p:cNvSpPr>
            <a:spLocks noGrp="1"/>
          </p:cNvSpPr>
          <p:nvPr>
            <p:ph type="title"/>
          </p:nvPr>
        </p:nvSpPr>
        <p:spPr>
          <a:xfrm>
            <a:off x="900506" y="1118808"/>
            <a:ext cx="4671467" cy="4747683"/>
          </a:xfrm>
        </p:spPr>
        <p:txBody>
          <a:bodyPr anchor="ctr">
            <a:normAutofit/>
          </a:bodyPr>
          <a:lstStyle/>
          <a:p>
            <a:pPr algn="l"/>
            <a:r>
              <a:rPr lang="en-US" sz="5000"/>
              <a:t>Introduction</a:t>
            </a:r>
          </a:p>
        </p:txBody>
      </p:sp>
      <p:sp>
        <p:nvSpPr>
          <p:cNvPr id="3" name="Content Placeholder 2">
            <a:extLst>
              <a:ext uri="{FF2B5EF4-FFF2-40B4-BE49-F238E27FC236}">
                <a16:creationId xmlns:a16="http://schemas.microsoft.com/office/drawing/2014/main" id="{7BF2EE11-AAB4-A6DA-2D0F-E57A71ED3DDF}"/>
              </a:ext>
            </a:extLst>
          </p:cNvPr>
          <p:cNvSpPr>
            <a:spLocks noGrp="1"/>
          </p:cNvSpPr>
          <p:nvPr>
            <p:ph idx="1"/>
          </p:nvPr>
        </p:nvSpPr>
        <p:spPr>
          <a:xfrm>
            <a:off x="6498769" y="1118809"/>
            <a:ext cx="5373441" cy="5252011"/>
          </a:xfrm>
          <a:effectLst/>
        </p:spPr>
        <p:txBody>
          <a:bodyPr anchor="ctr">
            <a:normAutofit/>
          </a:bodyPr>
          <a:lstStyle/>
          <a:p>
            <a:pPr marL="36900" indent="0">
              <a:lnSpc>
                <a:spcPct val="100000"/>
              </a:lnSpc>
              <a:buNone/>
            </a:pPr>
            <a:endParaRPr lang="en-US" sz="1600" dirty="0">
              <a:solidFill>
                <a:schemeClr val="tx1"/>
              </a:solidFill>
            </a:endParaRPr>
          </a:p>
          <a:p>
            <a:pPr marL="36900" indent="0">
              <a:lnSpc>
                <a:spcPct val="100000"/>
              </a:lnSpc>
              <a:buNone/>
            </a:pPr>
            <a:r>
              <a:rPr lang="en-US" sz="1600" dirty="0">
                <a:solidFill>
                  <a:schemeClr val="tx1"/>
                </a:solidFill>
              </a:rPr>
              <a:t>In modern DevOps environments, teams are expected not only to build systems but also to support them in production. One important part of that responsibility is pager rotation. Pager rotation ensures that production systems are monitored at all times and that someone is responsible if something goes wrong. </a:t>
            </a:r>
          </a:p>
          <a:p>
            <a:pPr marL="36900" indent="0">
              <a:lnSpc>
                <a:spcPct val="100000"/>
              </a:lnSpc>
              <a:buNone/>
            </a:pPr>
            <a:endParaRPr lang="en-US" sz="1600" dirty="0">
              <a:solidFill>
                <a:schemeClr val="tx1"/>
              </a:solidFill>
            </a:endParaRPr>
          </a:p>
          <a:p>
            <a:pPr marL="36900" indent="0">
              <a:lnSpc>
                <a:spcPct val="100000"/>
              </a:lnSpc>
              <a:buNone/>
            </a:pPr>
            <a:r>
              <a:rPr lang="en-US" sz="1600" dirty="0">
                <a:solidFill>
                  <a:schemeClr val="tx1"/>
                </a:solidFill>
              </a:rPr>
              <a:t>In this presentation, we will cover: </a:t>
            </a:r>
          </a:p>
          <a:p>
            <a:pPr>
              <a:lnSpc>
                <a:spcPct val="100000"/>
              </a:lnSpc>
            </a:pPr>
            <a:r>
              <a:rPr lang="en-US" sz="1600" dirty="0">
                <a:solidFill>
                  <a:schemeClr val="tx1"/>
                </a:solidFill>
              </a:rPr>
              <a:t>What pager rotation is</a:t>
            </a:r>
          </a:p>
          <a:p>
            <a:pPr>
              <a:lnSpc>
                <a:spcPct val="100000"/>
              </a:lnSpc>
            </a:pPr>
            <a:r>
              <a:rPr lang="en-US" sz="1600" dirty="0">
                <a:solidFill>
                  <a:schemeClr val="tx1"/>
                </a:solidFill>
              </a:rPr>
              <a:t>How it fits into the DevOps model</a:t>
            </a:r>
          </a:p>
          <a:p>
            <a:pPr>
              <a:lnSpc>
                <a:spcPct val="100000"/>
              </a:lnSpc>
            </a:pPr>
            <a:r>
              <a:rPr lang="en-US" sz="1600" dirty="0">
                <a:solidFill>
                  <a:schemeClr val="tx1"/>
                </a:solidFill>
              </a:rPr>
              <a:t>Why it matters</a:t>
            </a:r>
          </a:p>
          <a:p>
            <a:pPr>
              <a:lnSpc>
                <a:spcPct val="100000"/>
              </a:lnSpc>
            </a:pPr>
            <a:r>
              <a:rPr lang="en-US" sz="1600" dirty="0">
                <a:solidFill>
                  <a:schemeClr val="tx1"/>
                </a:solidFill>
              </a:rPr>
              <a:t>Industry Best Practices</a:t>
            </a:r>
          </a:p>
          <a:p>
            <a:pPr>
              <a:lnSpc>
                <a:spcPct val="100000"/>
              </a:lnSpc>
            </a:pPr>
            <a:r>
              <a:rPr lang="en-US" sz="1600" dirty="0">
                <a:solidFill>
                  <a:schemeClr val="tx1"/>
                </a:solidFill>
              </a:rPr>
              <a:t>Common Challenges and how to improve the process</a:t>
            </a:r>
          </a:p>
          <a:p>
            <a:pPr marL="36900" indent="0">
              <a:lnSpc>
                <a:spcPct val="100000"/>
              </a:lnSpc>
              <a:buNone/>
            </a:pPr>
            <a:endParaRPr lang="en-US" sz="1600" dirty="0">
              <a:solidFill>
                <a:schemeClr val="tx1"/>
              </a:solidFill>
            </a:endParaRPr>
          </a:p>
        </p:txBody>
      </p:sp>
    </p:spTree>
    <p:extLst>
      <p:ext uri="{BB962C8B-B14F-4D97-AF65-F5344CB8AC3E}">
        <p14:creationId xmlns:p14="http://schemas.microsoft.com/office/powerpoint/2010/main" val="883896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D0525BA9-A43C-4507-B537-1C1FE195F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FD794E-584A-4E6D-9325-2FCF354F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0"/>
            <a:ext cx="5182206" cy="685800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DC9476-F891-454A-1884-C6CEAE3C2D9E}"/>
              </a:ext>
            </a:extLst>
          </p:cNvPr>
          <p:cNvSpPr>
            <a:spLocks noGrp="1"/>
          </p:cNvSpPr>
          <p:nvPr>
            <p:ph type="title"/>
          </p:nvPr>
        </p:nvSpPr>
        <p:spPr>
          <a:xfrm>
            <a:off x="6567574" y="2806483"/>
            <a:ext cx="3994527" cy="1511507"/>
          </a:xfrm>
          <a:effectLst/>
        </p:spPr>
        <p:txBody>
          <a:bodyPr anchor="t">
            <a:normAutofit/>
          </a:bodyPr>
          <a:lstStyle/>
          <a:p>
            <a:r>
              <a:rPr lang="en-US" dirty="0">
                <a:solidFill>
                  <a:schemeClr val="tx1"/>
                </a:solidFill>
              </a:rPr>
              <a:t>What is Pager Rotation?</a:t>
            </a:r>
          </a:p>
        </p:txBody>
      </p:sp>
      <p:sp>
        <p:nvSpPr>
          <p:cNvPr id="3" name="Content Placeholder 2">
            <a:extLst>
              <a:ext uri="{FF2B5EF4-FFF2-40B4-BE49-F238E27FC236}">
                <a16:creationId xmlns:a16="http://schemas.microsoft.com/office/drawing/2014/main" id="{0AFF6205-AA68-5FF2-3D64-83914C60DF3D}"/>
              </a:ext>
            </a:extLst>
          </p:cNvPr>
          <p:cNvSpPr>
            <a:spLocks noGrp="1"/>
          </p:cNvSpPr>
          <p:nvPr>
            <p:ph idx="1"/>
          </p:nvPr>
        </p:nvSpPr>
        <p:spPr>
          <a:xfrm>
            <a:off x="913795" y="1066801"/>
            <a:ext cx="4870147" cy="4724400"/>
          </a:xfrm>
        </p:spPr>
        <p:txBody>
          <a:bodyPr>
            <a:normAutofit/>
          </a:bodyPr>
          <a:lstStyle/>
          <a:p>
            <a:pPr marL="36900" indent="0">
              <a:lnSpc>
                <a:spcPct val="100000"/>
              </a:lnSpc>
              <a:buNone/>
            </a:pPr>
            <a:r>
              <a:rPr lang="en-US" sz="1500"/>
              <a:t> Pager rotation is a structured on-call schedule where engineers take turns being responsible for responding to production alerts and incidents. Instead of having one dedicated operations team handling everything, responsibility rotates among qualified team members</a:t>
            </a:r>
          </a:p>
          <a:p>
            <a:pPr marL="36900" indent="0">
              <a:lnSpc>
                <a:spcPct val="100000"/>
              </a:lnSpc>
              <a:buNone/>
            </a:pPr>
            <a:r>
              <a:rPr lang="en-US" sz="1500"/>
              <a:t> </a:t>
            </a:r>
          </a:p>
          <a:p>
            <a:pPr marL="36900" indent="0">
              <a:lnSpc>
                <a:spcPct val="100000"/>
              </a:lnSpc>
              <a:buNone/>
            </a:pPr>
            <a:r>
              <a:rPr lang="en-US" sz="1500"/>
              <a:t>Some key elements include: </a:t>
            </a:r>
          </a:p>
          <a:p>
            <a:pPr>
              <a:lnSpc>
                <a:spcPct val="100000"/>
              </a:lnSpc>
            </a:pPr>
            <a:r>
              <a:rPr lang="en-US" sz="1500"/>
              <a:t>Shared on-call responsibility among team members</a:t>
            </a:r>
          </a:p>
          <a:p>
            <a:pPr>
              <a:lnSpc>
                <a:spcPct val="100000"/>
              </a:lnSpc>
            </a:pPr>
            <a:r>
              <a:rPr lang="en-US" sz="1500"/>
              <a:t>24/7 monitoring and incident response coverage</a:t>
            </a:r>
          </a:p>
          <a:p>
            <a:pPr>
              <a:lnSpc>
                <a:spcPct val="100000"/>
              </a:lnSpc>
            </a:pPr>
            <a:r>
              <a:rPr lang="en-US" sz="1500"/>
              <a:t>Defined escalation policies and paths</a:t>
            </a:r>
          </a:p>
          <a:p>
            <a:pPr>
              <a:lnSpc>
                <a:spcPct val="100000"/>
              </a:lnSpc>
            </a:pPr>
            <a:r>
              <a:rPr lang="en-US" sz="1500"/>
              <a:t>Incident tracking and documentation </a:t>
            </a:r>
          </a:p>
          <a:p>
            <a:pPr>
              <a:lnSpc>
                <a:spcPct val="100000"/>
              </a:lnSpc>
            </a:pPr>
            <a:r>
              <a:rPr lang="en-US" sz="1500"/>
              <a:t>Monitoring and alerting systems</a:t>
            </a:r>
          </a:p>
          <a:p>
            <a:pPr>
              <a:lnSpc>
                <a:spcPct val="100000"/>
              </a:lnSpc>
            </a:pPr>
            <a:endParaRPr lang="en-US" sz="1500"/>
          </a:p>
          <a:p>
            <a:pPr marL="36900" indent="0">
              <a:lnSpc>
                <a:spcPct val="100000"/>
              </a:lnSpc>
              <a:buNone/>
            </a:pPr>
            <a:r>
              <a:rPr lang="en-US" sz="1500"/>
              <a:t>This ensures that systems are always supported while spreading the responsibility across the team.</a:t>
            </a:r>
          </a:p>
        </p:txBody>
      </p:sp>
      <p:sp>
        <p:nvSpPr>
          <p:cNvPr id="35" name="Rectangle 34">
            <a:extLst>
              <a:ext uri="{FF2B5EF4-FFF2-40B4-BE49-F238E27FC236}">
                <a16:creationId xmlns:a16="http://schemas.microsoft.com/office/drawing/2014/main" id="{3D3863AD-F582-4E34-9459-372ECD5EA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8205" y="0"/>
            <a:ext cx="965188" cy="6858000"/>
          </a:xfrm>
          <a:prstGeom prst="rect">
            <a:avLst/>
          </a:prstGeom>
          <a:solidFill>
            <a:schemeClr val="accent1"/>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Tree>
    <p:extLst>
      <p:ext uri="{BB962C8B-B14F-4D97-AF65-F5344CB8AC3E}">
        <p14:creationId xmlns:p14="http://schemas.microsoft.com/office/powerpoint/2010/main" val="257561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AB646F-3BE3-47A3-B14F-9CB84F6BF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D1FC5E-8428-BBEB-FF7F-4ED3771F988C}"/>
              </a:ext>
            </a:extLst>
          </p:cNvPr>
          <p:cNvSpPr>
            <a:spLocks noGrp="1"/>
          </p:cNvSpPr>
          <p:nvPr>
            <p:ph type="title"/>
          </p:nvPr>
        </p:nvSpPr>
        <p:spPr>
          <a:xfrm>
            <a:off x="913795" y="609599"/>
            <a:ext cx="5978072" cy="1481150"/>
          </a:xfrm>
        </p:spPr>
        <p:txBody>
          <a:bodyPr>
            <a:normAutofit/>
          </a:bodyPr>
          <a:lstStyle/>
          <a:p>
            <a:r>
              <a:rPr lang="en-US" dirty="0"/>
              <a:t>Pager Rotation in DevOps</a:t>
            </a:r>
          </a:p>
        </p:txBody>
      </p:sp>
      <p:sp>
        <p:nvSpPr>
          <p:cNvPr id="3" name="Content Placeholder 2">
            <a:extLst>
              <a:ext uri="{FF2B5EF4-FFF2-40B4-BE49-F238E27FC236}">
                <a16:creationId xmlns:a16="http://schemas.microsoft.com/office/drawing/2014/main" id="{7102F04F-C77C-F433-528F-2B7F980E7BDE}"/>
              </a:ext>
            </a:extLst>
          </p:cNvPr>
          <p:cNvSpPr>
            <a:spLocks noGrp="1"/>
          </p:cNvSpPr>
          <p:nvPr>
            <p:ph idx="1"/>
          </p:nvPr>
        </p:nvSpPr>
        <p:spPr>
          <a:xfrm>
            <a:off x="913795" y="2279176"/>
            <a:ext cx="5978072" cy="3415672"/>
          </a:xfrm>
        </p:spPr>
        <p:txBody>
          <a:bodyPr anchor="ctr">
            <a:normAutofit/>
          </a:bodyPr>
          <a:lstStyle/>
          <a:p>
            <a:pPr marL="36900" indent="0">
              <a:buNone/>
            </a:pPr>
            <a:r>
              <a:rPr lang="en-US" dirty="0"/>
              <a:t>Pager rotation directly supports shared ownership, which is a core idea of the DevOps model. In DevOps, teams are responsible for both building and running the systems they create. When everyone is involved in taking a turn for the pager rotation, everyone is able to see the production issues first hand which in turn allows for more overall understanding and drives the team to focus on reliability and build stable, maintainable systems. </a:t>
            </a:r>
          </a:p>
        </p:txBody>
      </p:sp>
      <p:pic>
        <p:nvPicPr>
          <p:cNvPr id="5" name="Picture 4" descr="Top view of cubes connected with black lines">
            <a:extLst>
              <a:ext uri="{FF2B5EF4-FFF2-40B4-BE49-F238E27FC236}">
                <a16:creationId xmlns:a16="http://schemas.microsoft.com/office/drawing/2014/main" id="{D44E2A61-10F4-0591-4C90-BE6EA7FDB49B}"/>
              </a:ext>
            </a:extLst>
          </p:cNvPr>
          <p:cNvPicPr>
            <a:picLocks noChangeAspect="1"/>
          </p:cNvPicPr>
          <p:nvPr/>
        </p:nvPicPr>
        <p:blipFill>
          <a:blip r:embed="rId3"/>
          <a:srcRect l="29963" r="20041"/>
          <a:stretch>
            <a:fillRect/>
          </a:stretch>
        </p:blipFill>
        <p:spPr>
          <a:xfrm>
            <a:off x="7620351" y="10"/>
            <a:ext cx="4571649" cy="6857990"/>
          </a:xfrm>
          <a:prstGeom prst="rect">
            <a:avLst/>
          </a:prstGeom>
        </p:spPr>
      </p:pic>
      <p:pic>
        <p:nvPicPr>
          <p:cNvPr id="11" name="Picture 10">
            <a:extLst>
              <a:ext uri="{FF2B5EF4-FFF2-40B4-BE49-F238E27FC236}">
                <a16:creationId xmlns:a16="http://schemas.microsoft.com/office/drawing/2014/main" id="{E0BE7827-5B1A-4F37-BF70-19F7C5C6BDE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7501468" y="1"/>
            <a:ext cx="4690532" cy="6858000"/>
          </a:xfrm>
          <a:prstGeom prst="rect">
            <a:avLst/>
          </a:prstGeom>
        </p:spPr>
      </p:pic>
    </p:spTree>
    <p:extLst>
      <p:ext uri="{BB962C8B-B14F-4D97-AF65-F5344CB8AC3E}">
        <p14:creationId xmlns:p14="http://schemas.microsoft.com/office/powerpoint/2010/main" val="2676239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100FDBA-FFA2-E06A-FB47-EE3CD30BD6DA}"/>
              </a:ext>
            </a:extLst>
          </p:cNvPr>
          <p:cNvPicPr>
            <a:picLocks noChangeAspect="1"/>
          </p:cNvPicPr>
          <p:nvPr/>
        </p:nvPicPr>
        <p:blipFill>
          <a:blip r:embed="rId3"/>
          <a:srcRect l="25082" r="21584"/>
          <a:stretch>
            <a:fillRect/>
          </a:stretch>
        </p:blipFill>
        <p:spPr>
          <a:xfrm>
            <a:off x="0" y="-9964"/>
            <a:ext cx="6248399" cy="6867964"/>
          </a:xfrm>
          <a:prstGeom prst="rect">
            <a:avLst/>
          </a:prstGeom>
        </p:spPr>
      </p:pic>
      <p:pic>
        <p:nvPicPr>
          <p:cNvPr id="15" name="Picture 14">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13D91A2E-6BB7-E8A9-EB72-622CF536E6F0}"/>
              </a:ext>
            </a:extLst>
          </p:cNvPr>
          <p:cNvSpPr>
            <a:spLocks noGrp="1"/>
          </p:cNvSpPr>
          <p:nvPr>
            <p:ph type="title"/>
          </p:nvPr>
        </p:nvSpPr>
        <p:spPr>
          <a:xfrm>
            <a:off x="6900493" y="448775"/>
            <a:ext cx="4538124" cy="970450"/>
          </a:xfrm>
        </p:spPr>
        <p:txBody>
          <a:bodyPr anchor="b">
            <a:normAutofit/>
          </a:bodyPr>
          <a:lstStyle/>
          <a:p>
            <a:pPr algn="l"/>
            <a:r>
              <a:rPr lang="en-US" sz="3200" dirty="0"/>
              <a:t>Why Pager Rotation Matters</a:t>
            </a:r>
          </a:p>
        </p:txBody>
      </p:sp>
      <p:sp>
        <p:nvSpPr>
          <p:cNvPr id="3" name="Content Placeholder 2">
            <a:extLst>
              <a:ext uri="{FF2B5EF4-FFF2-40B4-BE49-F238E27FC236}">
                <a16:creationId xmlns:a16="http://schemas.microsoft.com/office/drawing/2014/main" id="{5EB654D5-2430-A2BE-11D1-86D89CFA9462}"/>
              </a:ext>
            </a:extLst>
          </p:cNvPr>
          <p:cNvSpPr>
            <a:spLocks noGrp="1"/>
          </p:cNvSpPr>
          <p:nvPr>
            <p:ph idx="1"/>
          </p:nvPr>
        </p:nvSpPr>
        <p:spPr>
          <a:xfrm>
            <a:off x="6900493" y="1580819"/>
            <a:ext cx="5117336" cy="4210379"/>
          </a:xfrm>
        </p:spPr>
        <p:txBody>
          <a:bodyPr anchor="t">
            <a:normAutofit lnSpcReduction="10000"/>
          </a:bodyPr>
          <a:lstStyle/>
          <a:p>
            <a:pPr marL="36900" indent="0">
              <a:lnSpc>
                <a:spcPct val="100000"/>
              </a:lnSpc>
              <a:buNone/>
            </a:pPr>
            <a:r>
              <a:rPr lang="en-US" sz="1400" dirty="0"/>
              <a:t>Pager rotation is important because modern organizations depend heavily on system availability. When applications go down it can result in</a:t>
            </a:r>
          </a:p>
          <a:p>
            <a:pPr>
              <a:lnSpc>
                <a:spcPct val="100000"/>
              </a:lnSpc>
            </a:pPr>
            <a:r>
              <a:rPr lang="en-US" sz="1400" dirty="0"/>
              <a:t>Lost revenue</a:t>
            </a:r>
          </a:p>
          <a:p>
            <a:pPr>
              <a:lnSpc>
                <a:spcPct val="100000"/>
              </a:lnSpc>
            </a:pPr>
            <a:r>
              <a:rPr lang="en-US" sz="1400" dirty="0"/>
              <a:t>Frustrated users</a:t>
            </a:r>
          </a:p>
          <a:p>
            <a:pPr>
              <a:lnSpc>
                <a:spcPct val="100000"/>
              </a:lnSpc>
            </a:pPr>
            <a:r>
              <a:rPr lang="en-US" sz="1400" dirty="0"/>
              <a:t>Damaged reputation</a:t>
            </a:r>
          </a:p>
          <a:p>
            <a:pPr>
              <a:lnSpc>
                <a:spcPct val="100000"/>
              </a:lnSpc>
            </a:pPr>
            <a:r>
              <a:rPr lang="en-US" sz="1400" dirty="0"/>
              <a:t>Compliance risks</a:t>
            </a:r>
          </a:p>
          <a:p>
            <a:pPr marL="36900" indent="0">
              <a:lnSpc>
                <a:spcPct val="100000"/>
              </a:lnSpc>
              <a:buNone/>
            </a:pPr>
            <a:endParaRPr lang="en-US" sz="1400" dirty="0"/>
          </a:p>
          <a:p>
            <a:pPr marL="36900" indent="0">
              <a:lnSpc>
                <a:spcPct val="100000"/>
              </a:lnSpc>
              <a:buNone/>
            </a:pPr>
            <a:r>
              <a:rPr lang="en-US" sz="1400" dirty="0"/>
              <a:t>By having an on call system in place to handle problems as they happen, companies can: </a:t>
            </a:r>
          </a:p>
          <a:p>
            <a:pPr>
              <a:lnSpc>
                <a:spcPct val="100000"/>
              </a:lnSpc>
            </a:pPr>
            <a:r>
              <a:rPr lang="en-US" sz="1400" dirty="0"/>
              <a:t>Reduce response times</a:t>
            </a:r>
          </a:p>
          <a:p>
            <a:pPr>
              <a:lnSpc>
                <a:spcPct val="100000"/>
              </a:lnSpc>
            </a:pPr>
            <a:r>
              <a:rPr lang="en-US" sz="1400" dirty="0"/>
              <a:t>Improve system uptime</a:t>
            </a:r>
          </a:p>
          <a:p>
            <a:pPr>
              <a:lnSpc>
                <a:spcPct val="100000"/>
              </a:lnSpc>
            </a:pPr>
            <a:r>
              <a:rPr lang="en-US" sz="1400" dirty="0"/>
              <a:t>Increase accountability</a:t>
            </a:r>
          </a:p>
          <a:p>
            <a:pPr>
              <a:lnSpc>
                <a:spcPct val="100000"/>
              </a:lnSpc>
            </a:pPr>
            <a:r>
              <a:rPr lang="en-US" sz="1400" dirty="0"/>
              <a:t>Ensure incidents are handled quickly </a:t>
            </a:r>
          </a:p>
          <a:p>
            <a:pPr marL="36900" indent="0">
              <a:lnSpc>
                <a:spcPct val="100000"/>
              </a:lnSpc>
              <a:buNone/>
            </a:pPr>
            <a:endParaRPr lang="en-US" sz="1400" dirty="0"/>
          </a:p>
          <a:p>
            <a:pPr marL="36900" indent="0">
              <a:lnSpc>
                <a:spcPct val="100000"/>
              </a:lnSpc>
              <a:buNone/>
            </a:pPr>
            <a:endParaRPr lang="en-US" sz="1100" dirty="0"/>
          </a:p>
          <a:p>
            <a:pPr>
              <a:lnSpc>
                <a:spcPct val="100000"/>
              </a:lnSpc>
            </a:pPr>
            <a:endParaRPr lang="en-US" sz="1100" dirty="0"/>
          </a:p>
        </p:txBody>
      </p:sp>
      <p:sp>
        <p:nvSpPr>
          <p:cNvPr id="4" name="Content Placeholder 2">
            <a:extLst>
              <a:ext uri="{FF2B5EF4-FFF2-40B4-BE49-F238E27FC236}">
                <a16:creationId xmlns:a16="http://schemas.microsoft.com/office/drawing/2014/main" id="{3760398C-A663-E15C-2B7F-57810265C489}"/>
              </a:ext>
            </a:extLst>
          </p:cNvPr>
          <p:cNvSpPr txBox="1">
            <a:spLocks/>
          </p:cNvSpPr>
          <p:nvPr/>
        </p:nvSpPr>
        <p:spPr>
          <a:xfrm>
            <a:off x="7242143" y="2076450"/>
            <a:ext cx="3178520"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110000"/>
              </a:lnSpc>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endParaRPr lang="en-US" dirty="0"/>
          </a:p>
        </p:txBody>
      </p:sp>
      <p:sp>
        <p:nvSpPr>
          <p:cNvPr id="7" name="AutoShape 4" descr="How Important is Helpdesk for your Business?">
            <a:extLst>
              <a:ext uri="{FF2B5EF4-FFF2-40B4-BE49-F238E27FC236}">
                <a16:creationId xmlns:a16="http://schemas.microsoft.com/office/drawing/2014/main" id="{A7B40707-9952-8A83-1C5F-E9F7431878D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B9280477-0AE3-F656-03C6-731FA6A06EBE}"/>
              </a:ext>
            </a:extLst>
          </p:cNvPr>
          <p:cNvSpPr txBox="1"/>
          <p:nvPr/>
        </p:nvSpPr>
        <p:spPr>
          <a:xfrm>
            <a:off x="6846533" y="5801162"/>
            <a:ext cx="4646044" cy="877163"/>
          </a:xfrm>
          <a:prstGeom prst="rect">
            <a:avLst/>
          </a:prstGeom>
          <a:noFill/>
        </p:spPr>
        <p:txBody>
          <a:bodyPr wrap="square" rtlCol="0">
            <a:spAutoFit/>
          </a:bodyPr>
          <a:lstStyle/>
          <a:p>
            <a:pPr>
              <a:lnSpc>
                <a:spcPct val="100000"/>
              </a:lnSpc>
            </a:pPr>
            <a:endParaRPr lang="en-US" sz="1100" dirty="0"/>
          </a:p>
          <a:p>
            <a:pPr marL="36900" indent="0">
              <a:lnSpc>
                <a:spcPct val="100000"/>
              </a:lnSpc>
              <a:buNone/>
            </a:pPr>
            <a:r>
              <a:rPr lang="en-US" sz="1100" i="1" dirty="0">
                <a:solidFill>
                  <a:schemeClr val="tx2"/>
                </a:solidFill>
              </a:rPr>
              <a:t>Picture retrieved from: </a:t>
            </a:r>
            <a:r>
              <a:rPr lang="en-US" sz="1100" i="1" dirty="0">
                <a:hlinkClick r:id="rId5"/>
              </a:rPr>
              <a:t>https://www.agilecrm.com/service-automation/how-important-is-helpdesk-for-your-business</a:t>
            </a:r>
            <a:endParaRPr lang="en-US" sz="1100" i="1" dirty="0"/>
          </a:p>
          <a:p>
            <a:endParaRPr lang="en-US" dirty="0"/>
          </a:p>
        </p:txBody>
      </p:sp>
    </p:spTree>
    <p:extLst>
      <p:ext uri="{BB962C8B-B14F-4D97-AF65-F5344CB8AC3E}">
        <p14:creationId xmlns:p14="http://schemas.microsoft.com/office/powerpoint/2010/main" val="371006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Thumbtack on a calendar date">
            <a:extLst>
              <a:ext uri="{FF2B5EF4-FFF2-40B4-BE49-F238E27FC236}">
                <a16:creationId xmlns:a16="http://schemas.microsoft.com/office/drawing/2014/main" id="{C55738A3-F3D3-7227-CD00-A38D03F961E3}"/>
              </a:ext>
            </a:extLst>
          </p:cNvPr>
          <p:cNvPicPr>
            <a:picLocks noChangeAspect="1"/>
          </p:cNvPicPr>
          <p:nvPr/>
        </p:nvPicPr>
        <p:blipFill>
          <a:blip r:embed="rId2">
            <a:alphaModFix amt="25000"/>
          </a:blip>
          <a:srcRect b="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29ABF7F-452B-EF07-EB62-23478FE213D1}"/>
              </a:ext>
            </a:extLst>
          </p:cNvPr>
          <p:cNvSpPr>
            <a:spLocks noGrp="1"/>
          </p:cNvSpPr>
          <p:nvPr>
            <p:ph type="title"/>
          </p:nvPr>
        </p:nvSpPr>
        <p:spPr>
          <a:xfrm>
            <a:off x="913795" y="609600"/>
            <a:ext cx="10353762" cy="1257300"/>
          </a:xfrm>
        </p:spPr>
        <p:txBody>
          <a:bodyPr>
            <a:normAutofit/>
          </a:bodyPr>
          <a:lstStyle/>
          <a:p>
            <a:r>
              <a:rPr lang="en-US" dirty="0"/>
              <a:t>Industry Best Practices</a:t>
            </a:r>
          </a:p>
        </p:txBody>
      </p:sp>
      <p:sp>
        <p:nvSpPr>
          <p:cNvPr id="3" name="Content Placeholder 2">
            <a:extLst>
              <a:ext uri="{FF2B5EF4-FFF2-40B4-BE49-F238E27FC236}">
                <a16:creationId xmlns:a16="http://schemas.microsoft.com/office/drawing/2014/main" id="{80CBA19C-F0A6-0199-DA8D-46F48A34551F}"/>
              </a:ext>
            </a:extLst>
          </p:cNvPr>
          <p:cNvSpPr>
            <a:spLocks noGrp="1"/>
          </p:cNvSpPr>
          <p:nvPr>
            <p:ph idx="1"/>
          </p:nvPr>
        </p:nvSpPr>
        <p:spPr>
          <a:xfrm>
            <a:off x="913795" y="2076450"/>
            <a:ext cx="10353762" cy="3714749"/>
          </a:xfrm>
        </p:spPr>
        <p:txBody>
          <a:bodyPr anchor="ctr">
            <a:normAutofit/>
          </a:bodyPr>
          <a:lstStyle/>
          <a:p>
            <a:pPr marL="36900" indent="0">
              <a:buNone/>
            </a:pPr>
            <a:r>
              <a:rPr lang="en-US" dirty="0"/>
              <a:t>In high performing DevOps organizations, pager rotations are carefully managed. Some common best practices to follow include: </a:t>
            </a:r>
          </a:p>
          <a:p>
            <a:r>
              <a:rPr lang="en-US" dirty="0"/>
              <a:t>Short, defined rotation periods (often one week) to ensure everyone knows when they are scheduled and for how long</a:t>
            </a:r>
          </a:p>
          <a:p>
            <a:r>
              <a:rPr lang="en-US" dirty="0"/>
              <a:t>Clear escalation policies with blameless post-incident reviews</a:t>
            </a:r>
          </a:p>
          <a:p>
            <a:r>
              <a:rPr lang="en-US" dirty="0"/>
              <a:t>Compensation or recovery time when needed for those called in after hours</a:t>
            </a:r>
          </a:p>
          <a:p>
            <a:r>
              <a:rPr lang="en-US" dirty="0"/>
              <a:t>Well documented runbooks</a:t>
            </a:r>
          </a:p>
          <a:p>
            <a:r>
              <a:rPr lang="en-US" dirty="0"/>
              <a:t>Continuous review of alert quality</a:t>
            </a:r>
          </a:p>
        </p:txBody>
      </p:sp>
    </p:spTree>
    <p:extLst>
      <p:ext uri="{BB962C8B-B14F-4D97-AF65-F5344CB8AC3E}">
        <p14:creationId xmlns:p14="http://schemas.microsoft.com/office/powerpoint/2010/main" val="2269949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4AB646F-3BE3-47A3-B14F-9CB84F6BF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28DEA8-BEE4-9AAE-F5D3-E0CF1090BB00}"/>
              </a:ext>
            </a:extLst>
          </p:cNvPr>
          <p:cNvSpPr>
            <a:spLocks noGrp="1"/>
          </p:cNvSpPr>
          <p:nvPr>
            <p:ph type="title"/>
          </p:nvPr>
        </p:nvSpPr>
        <p:spPr>
          <a:xfrm>
            <a:off x="913795" y="609599"/>
            <a:ext cx="5978072" cy="1481150"/>
          </a:xfrm>
        </p:spPr>
        <p:txBody>
          <a:bodyPr>
            <a:normAutofit/>
          </a:bodyPr>
          <a:lstStyle/>
          <a:p>
            <a:r>
              <a:rPr lang="en-US" dirty="0"/>
              <a:t>Common Challenges</a:t>
            </a:r>
          </a:p>
        </p:txBody>
      </p:sp>
      <p:sp>
        <p:nvSpPr>
          <p:cNvPr id="3" name="Content Placeholder 2">
            <a:extLst>
              <a:ext uri="{FF2B5EF4-FFF2-40B4-BE49-F238E27FC236}">
                <a16:creationId xmlns:a16="http://schemas.microsoft.com/office/drawing/2014/main" id="{E79AA5E6-888A-58CC-AF96-6B62934E4E47}"/>
              </a:ext>
            </a:extLst>
          </p:cNvPr>
          <p:cNvSpPr>
            <a:spLocks noGrp="1"/>
          </p:cNvSpPr>
          <p:nvPr>
            <p:ph idx="1"/>
          </p:nvPr>
        </p:nvSpPr>
        <p:spPr>
          <a:xfrm>
            <a:off x="913795" y="2279176"/>
            <a:ext cx="5978072" cy="3415672"/>
          </a:xfrm>
        </p:spPr>
        <p:txBody>
          <a:bodyPr anchor="ctr">
            <a:normAutofit/>
          </a:bodyPr>
          <a:lstStyle/>
          <a:p>
            <a:pPr marL="36900" indent="0">
              <a:lnSpc>
                <a:spcPct val="100000"/>
              </a:lnSpc>
              <a:buNone/>
            </a:pPr>
            <a:r>
              <a:rPr lang="en-US" sz="1600"/>
              <a:t>Pager rotation can cause problems if not managed correctly. Some common challenges that are faced include: </a:t>
            </a:r>
          </a:p>
          <a:p>
            <a:pPr>
              <a:lnSpc>
                <a:spcPct val="100000"/>
              </a:lnSpc>
            </a:pPr>
            <a:r>
              <a:rPr lang="en-US" sz="1600"/>
              <a:t>Alert fatigue from too many notifications</a:t>
            </a:r>
          </a:p>
          <a:p>
            <a:pPr>
              <a:lnSpc>
                <a:spcPct val="100000"/>
              </a:lnSpc>
            </a:pPr>
            <a:r>
              <a:rPr lang="en-US" sz="1600"/>
              <a:t>Engineer burnout</a:t>
            </a:r>
          </a:p>
          <a:p>
            <a:pPr>
              <a:lnSpc>
                <a:spcPct val="100000"/>
              </a:lnSpc>
            </a:pPr>
            <a:r>
              <a:rPr lang="en-US" sz="1600"/>
              <a:t>Poor documentation</a:t>
            </a:r>
          </a:p>
          <a:p>
            <a:pPr>
              <a:lnSpc>
                <a:spcPct val="100000"/>
              </a:lnSpc>
            </a:pPr>
            <a:r>
              <a:rPr lang="en-US" sz="1600"/>
              <a:t>Manual, repetitive incident processes</a:t>
            </a:r>
          </a:p>
          <a:p>
            <a:pPr>
              <a:lnSpc>
                <a:spcPct val="100000"/>
              </a:lnSpc>
            </a:pPr>
            <a:r>
              <a:rPr lang="en-US" sz="1600"/>
              <a:t>Over-reliance on a small number of engineers. </a:t>
            </a:r>
          </a:p>
          <a:p>
            <a:pPr>
              <a:lnSpc>
                <a:spcPct val="100000"/>
              </a:lnSpc>
            </a:pPr>
            <a:endParaRPr lang="en-US" sz="1600"/>
          </a:p>
          <a:p>
            <a:pPr marL="36900" indent="0">
              <a:lnSpc>
                <a:spcPct val="100000"/>
              </a:lnSpc>
              <a:buNone/>
            </a:pPr>
            <a:r>
              <a:rPr lang="en-US" sz="1600"/>
              <a:t>If engineers are constantly being interrupted or called in after hours to deal with low-priority alerts, morale and productivity can take a hit. </a:t>
            </a:r>
          </a:p>
        </p:txBody>
      </p:sp>
      <p:pic>
        <p:nvPicPr>
          <p:cNvPr id="5" name="Picture 4" descr="Person with eyeglasses illustration">
            <a:extLst>
              <a:ext uri="{FF2B5EF4-FFF2-40B4-BE49-F238E27FC236}">
                <a16:creationId xmlns:a16="http://schemas.microsoft.com/office/drawing/2014/main" id="{A6128843-21D0-72F2-BDDD-41D1759D8A37}"/>
              </a:ext>
            </a:extLst>
          </p:cNvPr>
          <p:cNvPicPr>
            <a:picLocks noChangeAspect="1"/>
          </p:cNvPicPr>
          <p:nvPr/>
        </p:nvPicPr>
        <p:blipFill>
          <a:blip r:embed="rId3"/>
          <a:srcRect l="4374" r="6744"/>
          <a:stretch>
            <a:fillRect/>
          </a:stretch>
        </p:blipFill>
        <p:spPr>
          <a:xfrm>
            <a:off x="7620351" y="10"/>
            <a:ext cx="4571649" cy="6857990"/>
          </a:xfrm>
          <a:prstGeom prst="rect">
            <a:avLst/>
          </a:prstGeom>
        </p:spPr>
      </p:pic>
      <p:pic>
        <p:nvPicPr>
          <p:cNvPr id="12" name="Picture 11">
            <a:extLst>
              <a:ext uri="{FF2B5EF4-FFF2-40B4-BE49-F238E27FC236}">
                <a16:creationId xmlns:a16="http://schemas.microsoft.com/office/drawing/2014/main" id="{E0BE7827-5B1A-4F37-BF70-19F7C5C6BDE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7501468" y="1"/>
            <a:ext cx="4690532" cy="6858000"/>
          </a:xfrm>
          <a:prstGeom prst="rect">
            <a:avLst/>
          </a:prstGeom>
        </p:spPr>
      </p:pic>
    </p:spTree>
    <p:extLst>
      <p:ext uri="{BB962C8B-B14F-4D97-AF65-F5344CB8AC3E}">
        <p14:creationId xmlns:p14="http://schemas.microsoft.com/office/powerpoint/2010/main" val="4045789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B051A4-96A7-4A11-9DAD-063A9C577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5B67B9C-9B45-4084-9BB5-187071EE9A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565918"/>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C0AB64-6AC6-8C9B-9FF5-0E66447C1298}"/>
              </a:ext>
            </a:extLst>
          </p:cNvPr>
          <p:cNvSpPr>
            <a:spLocks noGrp="1"/>
          </p:cNvSpPr>
          <p:nvPr>
            <p:ph type="title"/>
          </p:nvPr>
        </p:nvSpPr>
        <p:spPr>
          <a:xfrm>
            <a:off x="913795" y="466289"/>
            <a:ext cx="10353761" cy="1633340"/>
          </a:xfrm>
        </p:spPr>
        <p:txBody>
          <a:bodyPr>
            <a:normAutofit/>
          </a:bodyPr>
          <a:lstStyle/>
          <a:p>
            <a:r>
              <a:rPr lang="en-US" sz="4800" dirty="0">
                <a:solidFill>
                  <a:srgbClr val="FFFFFF"/>
                </a:solidFill>
              </a:rPr>
              <a:t>How to Improve Pager Rotation Systems</a:t>
            </a:r>
          </a:p>
        </p:txBody>
      </p:sp>
      <p:sp>
        <p:nvSpPr>
          <p:cNvPr id="3" name="Content Placeholder 2">
            <a:extLst>
              <a:ext uri="{FF2B5EF4-FFF2-40B4-BE49-F238E27FC236}">
                <a16:creationId xmlns:a16="http://schemas.microsoft.com/office/drawing/2014/main" id="{21982AC0-F99B-28DB-F936-BA3C436F5FE1}"/>
              </a:ext>
            </a:extLst>
          </p:cNvPr>
          <p:cNvSpPr>
            <a:spLocks noGrp="1"/>
          </p:cNvSpPr>
          <p:nvPr>
            <p:ph idx="1"/>
          </p:nvPr>
        </p:nvSpPr>
        <p:spPr>
          <a:xfrm>
            <a:off x="913795" y="2788170"/>
            <a:ext cx="10353762" cy="3672591"/>
          </a:xfrm>
          <a:effectLst/>
        </p:spPr>
        <p:txBody>
          <a:bodyPr anchor="ctr">
            <a:normAutofit/>
          </a:bodyPr>
          <a:lstStyle/>
          <a:p>
            <a:pPr marL="36900" indent="0">
              <a:lnSpc>
                <a:spcPct val="100000"/>
              </a:lnSpc>
              <a:buNone/>
            </a:pPr>
            <a:r>
              <a:rPr lang="en-US" sz="1600" dirty="0"/>
              <a:t>In order to combat the common challenges discussed in the previous slide, there are things that companies should be doing to improve their pager rotation systems and avoid burnout.</a:t>
            </a:r>
          </a:p>
          <a:p>
            <a:pPr>
              <a:lnSpc>
                <a:spcPct val="100000"/>
              </a:lnSpc>
            </a:pPr>
            <a:r>
              <a:rPr lang="en-US" sz="1600" dirty="0"/>
              <a:t>Categorize alerts by severity</a:t>
            </a:r>
          </a:p>
          <a:p>
            <a:pPr>
              <a:lnSpc>
                <a:spcPct val="100000"/>
              </a:lnSpc>
            </a:pPr>
            <a:r>
              <a:rPr lang="en-US" sz="1600" dirty="0"/>
              <a:t>Eliminate unnecessary alerts</a:t>
            </a:r>
          </a:p>
          <a:p>
            <a:pPr>
              <a:lnSpc>
                <a:spcPct val="100000"/>
              </a:lnSpc>
            </a:pPr>
            <a:r>
              <a:rPr lang="en-US" sz="1600" dirty="0"/>
              <a:t>Automating common fixes</a:t>
            </a:r>
          </a:p>
          <a:p>
            <a:pPr>
              <a:lnSpc>
                <a:spcPct val="100000"/>
              </a:lnSpc>
            </a:pPr>
            <a:r>
              <a:rPr lang="en-US" sz="1600" dirty="0"/>
              <a:t>Reviewing incidents regularly</a:t>
            </a:r>
          </a:p>
          <a:p>
            <a:pPr>
              <a:lnSpc>
                <a:spcPct val="100000"/>
              </a:lnSpc>
            </a:pPr>
            <a:r>
              <a:rPr lang="en-US" sz="1600" dirty="0"/>
              <a:t>Ensure adequate staffing and proper rotations with sufficient recovery time</a:t>
            </a:r>
          </a:p>
          <a:p>
            <a:pPr marL="36900" indent="0">
              <a:lnSpc>
                <a:spcPct val="100000"/>
              </a:lnSpc>
              <a:buNone/>
            </a:pPr>
            <a:r>
              <a:rPr lang="en-US" sz="1600" dirty="0"/>
              <a:t>One of the best ways to improve your pager rotation system is to improve your systems to the point where the problems and alerts are minimal. In addition to that, following simple steps and basic guidelines can help to ensure that nobody gets burnt out, while still having the support available to address the issues when needed. </a:t>
            </a:r>
          </a:p>
        </p:txBody>
      </p:sp>
    </p:spTree>
    <p:extLst>
      <p:ext uri="{BB962C8B-B14F-4D97-AF65-F5344CB8AC3E}">
        <p14:creationId xmlns:p14="http://schemas.microsoft.com/office/powerpoint/2010/main" val="140994427"/>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8761467-7640-47B1-90D4-04ADAD632C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738B1503-6FE9-46B4-9354-E943D91B11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05514" y="-2"/>
            <a:ext cx="8386486" cy="6858002"/>
          </a:xfrm>
          <a:custGeom>
            <a:avLst/>
            <a:gdLst>
              <a:gd name="connsiteX0" fmla="*/ 0 w 6088489"/>
              <a:gd name="connsiteY0" fmla="*/ 0 h 6858002"/>
              <a:gd name="connsiteX1" fmla="*/ 3563332 w 6088489"/>
              <a:gd name="connsiteY1" fmla="*/ 0 h 6858002"/>
              <a:gd name="connsiteX2" fmla="*/ 3563332 w 6088489"/>
              <a:gd name="connsiteY2" fmla="*/ 3 h 6858002"/>
              <a:gd name="connsiteX3" fmla="*/ 5842099 w 6088489"/>
              <a:gd name="connsiteY3" fmla="*/ 3 h 6858002"/>
              <a:gd name="connsiteX4" fmla="*/ 5842099 w 6088489"/>
              <a:gd name="connsiteY4" fmla="*/ 4 h 6858002"/>
              <a:gd name="connsiteX5" fmla="*/ 5835346 w 6088489"/>
              <a:gd name="connsiteY5" fmla="*/ 4 h 6858002"/>
              <a:gd name="connsiteX6" fmla="*/ 5841229 w 6088489"/>
              <a:gd name="connsiteY6" fmla="*/ 40466 h 6858002"/>
              <a:gd name="connsiteX7" fmla="*/ 5858543 w 6088489"/>
              <a:gd name="connsiteY7" fmla="*/ 159110 h 6858002"/>
              <a:gd name="connsiteX8" fmla="*/ 5870645 w 6088489"/>
              <a:gd name="connsiteY8" fmla="*/ 245521 h 6858002"/>
              <a:gd name="connsiteX9" fmla="*/ 5883420 w 6088489"/>
              <a:gd name="connsiteY9" fmla="*/ 348391 h 6858002"/>
              <a:gd name="connsiteX10" fmla="*/ 5898716 w 6088489"/>
              <a:gd name="connsiteY10" fmla="*/ 470463 h 6858002"/>
              <a:gd name="connsiteX11" fmla="*/ 5914853 w 6088489"/>
              <a:gd name="connsiteY11" fmla="*/ 605566 h 6858002"/>
              <a:gd name="connsiteX12" fmla="*/ 5931830 w 6088489"/>
              <a:gd name="connsiteY12" fmla="*/ 757813 h 6858002"/>
              <a:gd name="connsiteX13" fmla="*/ 5949815 w 6088489"/>
              <a:gd name="connsiteY13" fmla="*/ 923777 h 6858002"/>
              <a:gd name="connsiteX14" fmla="*/ 5967801 w 6088489"/>
              <a:gd name="connsiteY14" fmla="*/ 1104142 h 6858002"/>
              <a:gd name="connsiteX15" fmla="*/ 5986122 w 6088489"/>
              <a:gd name="connsiteY15" fmla="*/ 1296166 h 6858002"/>
              <a:gd name="connsiteX16" fmla="*/ 6003099 w 6088489"/>
              <a:gd name="connsiteY16" fmla="*/ 1503278 h 6858002"/>
              <a:gd name="connsiteX17" fmla="*/ 6019404 w 6088489"/>
              <a:gd name="connsiteY17" fmla="*/ 1719991 h 6858002"/>
              <a:gd name="connsiteX18" fmla="*/ 6034196 w 6088489"/>
              <a:gd name="connsiteY18" fmla="*/ 1949048 h 6858002"/>
              <a:gd name="connsiteX19" fmla="*/ 6048315 w 6088489"/>
              <a:gd name="connsiteY19" fmla="*/ 2187706 h 6858002"/>
              <a:gd name="connsiteX20" fmla="*/ 6061595 w 6088489"/>
              <a:gd name="connsiteY20" fmla="*/ 2436652 h 6858002"/>
              <a:gd name="connsiteX21" fmla="*/ 6066301 w 6088489"/>
              <a:gd name="connsiteY21" fmla="*/ 2564211 h 6858002"/>
              <a:gd name="connsiteX22" fmla="*/ 6071512 w 6088489"/>
              <a:gd name="connsiteY22" fmla="*/ 2694512 h 6858002"/>
              <a:gd name="connsiteX23" fmla="*/ 6076386 w 6088489"/>
              <a:gd name="connsiteY23" fmla="*/ 2826871 h 6858002"/>
              <a:gd name="connsiteX24" fmla="*/ 6079580 w 6088489"/>
              <a:gd name="connsiteY24" fmla="*/ 2959917 h 6858002"/>
              <a:gd name="connsiteX25" fmla="*/ 6082438 w 6088489"/>
              <a:gd name="connsiteY25" fmla="*/ 3095705 h 6858002"/>
              <a:gd name="connsiteX26" fmla="*/ 6085463 w 6088489"/>
              <a:gd name="connsiteY26" fmla="*/ 3232865 h 6858002"/>
              <a:gd name="connsiteX27" fmla="*/ 6087480 w 6088489"/>
              <a:gd name="connsiteY27" fmla="*/ 3372768 h 6858002"/>
              <a:gd name="connsiteX28" fmla="*/ 6087480 w 6088489"/>
              <a:gd name="connsiteY28" fmla="*/ 3514043 h 6858002"/>
              <a:gd name="connsiteX29" fmla="*/ 6088489 w 6088489"/>
              <a:gd name="connsiteY29" fmla="*/ 3656689 h 6858002"/>
              <a:gd name="connsiteX30" fmla="*/ 6087480 w 6088489"/>
              <a:gd name="connsiteY30" fmla="*/ 3800707 h 6858002"/>
              <a:gd name="connsiteX31" fmla="*/ 6085463 w 6088489"/>
              <a:gd name="connsiteY31" fmla="*/ 3946783 h 6858002"/>
              <a:gd name="connsiteX32" fmla="*/ 6083614 w 6088489"/>
              <a:gd name="connsiteY32" fmla="*/ 4092858 h 6858002"/>
              <a:gd name="connsiteX33" fmla="*/ 6079580 w 6088489"/>
              <a:gd name="connsiteY33" fmla="*/ 4240991 h 6858002"/>
              <a:gd name="connsiteX34" fmla="*/ 6075378 w 6088489"/>
              <a:gd name="connsiteY34" fmla="*/ 4390495 h 6858002"/>
              <a:gd name="connsiteX35" fmla="*/ 6070503 w 6088489"/>
              <a:gd name="connsiteY35" fmla="*/ 4540000 h 6858002"/>
              <a:gd name="connsiteX36" fmla="*/ 6063612 w 6088489"/>
              <a:gd name="connsiteY36" fmla="*/ 4690876 h 6858002"/>
              <a:gd name="connsiteX37" fmla="*/ 6055375 w 6088489"/>
              <a:gd name="connsiteY37" fmla="*/ 4843123 h 6858002"/>
              <a:gd name="connsiteX38" fmla="*/ 6047475 w 6088489"/>
              <a:gd name="connsiteY38" fmla="*/ 4996057 h 6858002"/>
              <a:gd name="connsiteX39" fmla="*/ 6037390 w 6088489"/>
              <a:gd name="connsiteY39" fmla="*/ 5148990 h 6858002"/>
              <a:gd name="connsiteX40" fmla="*/ 6025287 w 6088489"/>
              <a:gd name="connsiteY40" fmla="*/ 5303981 h 6858002"/>
              <a:gd name="connsiteX41" fmla="*/ 6013185 w 6088489"/>
              <a:gd name="connsiteY41" fmla="*/ 5456914 h 6858002"/>
              <a:gd name="connsiteX42" fmla="*/ 5999233 w 6088489"/>
              <a:gd name="connsiteY42" fmla="*/ 5612591 h 6858002"/>
              <a:gd name="connsiteX43" fmla="*/ 5983937 w 6088489"/>
              <a:gd name="connsiteY43" fmla="*/ 5768953 h 6858002"/>
              <a:gd name="connsiteX44" fmla="*/ 5967801 w 6088489"/>
              <a:gd name="connsiteY44" fmla="*/ 5923258 h 6858002"/>
              <a:gd name="connsiteX45" fmla="*/ 5948975 w 6088489"/>
              <a:gd name="connsiteY45" fmla="*/ 6079621 h 6858002"/>
              <a:gd name="connsiteX46" fmla="*/ 5928804 w 6088489"/>
              <a:gd name="connsiteY46" fmla="*/ 6235297 h 6858002"/>
              <a:gd name="connsiteX47" fmla="*/ 5908801 w 6088489"/>
              <a:gd name="connsiteY47" fmla="*/ 6391660 h 6858002"/>
              <a:gd name="connsiteX48" fmla="*/ 5885437 w 6088489"/>
              <a:gd name="connsiteY48" fmla="*/ 6547336 h 6858002"/>
              <a:gd name="connsiteX49" fmla="*/ 5861568 w 6088489"/>
              <a:gd name="connsiteY49" fmla="*/ 6702327 h 6858002"/>
              <a:gd name="connsiteX50" fmla="*/ 5836524 w 6088489"/>
              <a:gd name="connsiteY50" fmla="*/ 6858002 h 6858002"/>
              <a:gd name="connsiteX51" fmla="*/ 3563332 w 6088489"/>
              <a:gd name="connsiteY51" fmla="*/ 6858002 h 6858002"/>
              <a:gd name="connsiteX52" fmla="*/ 1223490 w 6088489"/>
              <a:gd name="connsiteY52" fmla="*/ 6858002 h 6858002"/>
              <a:gd name="connsiteX53" fmla="*/ 0 w 6088489"/>
              <a:gd name="connsiteY53"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088489" h="6858002">
                <a:moveTo>
                  <a:pt x="0" y="0"/>
                </a:moveTo>
                <a:lnTo>
                  <a:pt x="3563332" y="0"/>
                </a:lnTo>
                <a:lnTo>
                  <a:pt x="3563332" y="3"/>
                </a:lnTo>
                <a:lnTo>
                  <a:pt x="5842099" y="3"/>
                </a:lnTo>
                <a:lnTo>
                  <a:pt x="5842099" y="4"/>
                </a:lnTo>
                <a:lnTo>
                  <a:pt x="5835346" y="4"/>
                </a:lnTo>
                <a:lnTo>
                  <a:pt x="5841229" y="40466"/>
                </a:lnTo>
                <a:lnTo>
                  <a:pt x="5858543" y="159110"/>
                </a:lnTo>
                <a:lnTo>
                  <a:pt x="5870645" y="245521"/>
                </a:lnTo>
                <a:lnTo>
                  <a:pt x="5883420" y="348391"/>
                </a:lnTo>
                <a:lnTo>
                  <a:pt x="5898716" y="470463"/>
                </a:lnTo>
                <a:lnTo>
                  <a:pt x="5914853" y="605566"/>
                </a:lnTo>
                <a:lnTo>
                  <a:pt x="5931830" y="757813"/>
                </a:lnTo>
                <a:lnTo>
                  <a:pt x="5949815" y="923777"/>
                </a:lnTo>
                <a:lnTo>
                  <a:pt x="5967801" y="1104142"/>
                </a:lnTo>
                <a:lnTo>
                  <a:pt x="5986122" y="1296166"/>
                </a:lnTo>
                <a:lnTo>
                  <a:pt x="6003099" y="1503278"/>
                </a:lnTo>
                <a:lnTo>
                  <a:pt x="6019404" y="1719991"/>
                </a:lnTo>
                <a:lnTo>
                  <a:pt x="6034196" y="1949048"/>
                </a:lnTo>
                <a:lnTo>
                  <a:pt x="6048315" y="2187706"/>
                </a:lnTo>
                <a:lnTo>
                  <a:pt x="6061595" y="2436652"/>
                </a:lnTo>
                <a:lnTo>
                  <a:pt x="6066301" y="2564211"/>
                </a:lnTo>
                <a:lnTo>
                  <a:pt x="6071512" y="2694512"/>
                </a:lnTo>
                <a:lnTo>
                  <a:pt x="6076386" y="2826871"/>
                </a:lnTo>
                <a:lnTo>
                  <a:pt x="6079580" y="2959917"/>
                </a:lnTo>
                <a:lnTo>
                  <a:pt x="6082438" y="3095705"/>
                </a:lnTo>
                <a:lnTo>
                  <a:pt x="6085463" y="3232865"/>
                </a:lnTo>
                <a:lnTo>
                  <a:pt x="6087480" y="3372768"/>
                </a:lnTo>
                <a:lnTo>
                  <a:pt x="6087480" y="3514043"/>
                </a:lnTo>
                <a:lnTo>
                  <a:pt x="6088489" y="3656689"/>
                </a:lnTo>
                <a:lnTo>
                  <a:pt x="6087480" y="3800707"/>
                </a:lnTo>
                <a:lnTo>
                  <a:pt x="6085463" y="3946783"/>
                </a:lnTo>
                <a:lnTo>
                  <a:pt x="6083614" y="4092858"/>
                </a:lnTo>
                <a:lnTo>
                  <a:pt x="6079580" y="4240991"/>
                </a:lnTo>
                <a:lnTo>
                  <a:pt x="6075378" y="4390495"/>
                </a:lnTo>
                <a:lnTo>
                  <a:pt x="6070503" y="4540000"/>
                </a:lnTo>
                <a:lnTo>
                  <a:pt x="6063612" y="4690876"/>
                </a:lnTo>
                <a:lnTo>
                  <a:pt x="6055375" y="4843123"/>
                </a:lnTo>
                <a:lnTo>
                  <a:pt x="6047475" y="4996057"/>
                </a:lnTo>
                <a:lnTo>
                  <a:pt x="6037390" y="5148990"/>
                </a:lnTo>
                <a:lnTo>
                  <a:pt x="6025287" y="5303981"/>
                </a:lnTo>
                <a:lnTo>
                  <a:pt x="6013185" y="5456914"/>
                </a:lnTo>
                <a:lnTo>
                  <a:pt x="5999233" y="5612591"/>
                </a:lnTo>
                <a:lnTo>
                  <a:pt x="5983937" y="5768953"/>
                </a:lnTo>
                <a:lnTo>
                  <a:pt x="5967801" y="5923258"/>
                </a:lnTo>
                <a:lnTo>
                  <a:pt x="5948975" y="6079621"/>
                </a:lnTo>
                <a:lnTo>
                  <a:pt x="5928804" y="6235297"/>
                </a:lnTo>
                <a:lnTo>
                  <a:pt x="5908801" y="6391660"/>
                </a:lnTo>
                <a:lnTo>
                  <a:pt x="5885437" y="6547336"/>
                </a:lnTo>
                <a:lnTo>
                  <a:pt x="5861568" y="6702327"/>
                </a:lnTo>
                <a:lnTo>
                  <a:pt x="5836524" y="6858002"/>
                </a:lnTo>
                <a:lnTo>
                  <a:pt x="3563332" y="6858002"/>
                </a:lnTo>
                <a:lnTo>
                  <a:pt x="1223490" y="6858002"/>
                </a:lnTo>
                <a:lnTo>
                  <a:pt x="0" y="6858002"/>
                </a:lnTo>
                <a:close/>
              </a:path>
            </a:pathLst>
          </a:custGeom>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0CD60A-1145-6B56-A6C9-163F5E8747FB}"/>
              </a:ext>
            </a:extLst>
          </p:cNvPr>
          <p:cNvSpPr>
            <a:spLocks noGrp="1"/>
          </p:cNvSpPr>
          <p:nvPr>
            <p:ph type="title"/>
          </p:nvPr>
        </p:nvSpPr>
        <p:spPr>
          <a:xfrm>
            <a:off x="4654295" y="965196"/>
            <a:ext cx="6197686" cy="1371604"/>
          </a:xfrm>
        </p:spPr>
        <p:txBody>
          <a:bodyPr>
            <a:normAutofit/>
          </a:bodyPr>
          <a:lstStyle/>
          <a:p>
            <a:pPr algn="l"/>
            <a:r>
              <a:rPr lang="en-US" dirty="0"/>
              <a:t>Available Tools to Support Pager Rotation</a:t>
            </a:r>
            <a:endParaRPr lang="en-US"/>
          </a:p>
        </p:txBody>
      </p:sp>
      <p:pic>
        <p:nvPicPr>
          <p:cNvPr id="5" name="Graphic 4" descr="Warning with solid fill">
            <a:extLst>
              <a:ext uri="{FF2B5EF4-FFF2-40B4-BE49-F238E27FC236}">
                <a16:creationId xmlns:a16="http://schemas.microsoft.com/office/drawing/2014/main" id="{95F06230-02CE-D844-8CA4-3BEBAD9649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2852" y="1898288"/>
            <a:ext cx="3061424" cy="3061424"/>
          </a:xfrm>
          <a:prstGeom prst="rect">
            <a:avLst/>
          </a:prstGeom>
        </p:spPr>
      </p:pic>
      <p:sp>
        <p:nvSpPr>
          <p:cNvPr id="3" name="Content Placeholder 2">
            <a:extLst>
              <a:ext uri="{FF2B5EF4-FFF2-40B4-BE49-F238E27FC236}">
                <a16:creationId xmlns:a16="http://schemas.microsoft.com/office/drawing/2014/main" id="{10AB417B-6EA0-6788-5B9E-C3B94EE42FA1}"/>
              </a:ext>
            </a:extLst>
          </p:cNvPr>
          <p:cNvSpPr>
            <a:spLocks noGrp="1"/>
          </p:cNvSpPr>
          <p:nvPr>
            <p:ph idx="1"/>
          </p:nvPr>
        </p:nvSpPr>
        <p:spPr>
          <a:xfrm>
            <a:off x="4654295" y="2617694"/>
            <a:ext cx="6197686" cy="3173505"/>
          </a:xfrm>
        </p:spPr>
        <p:txBody>
          <a:bodyPr>
            <a:normAutofit/>
          </a:bodyPr>
          <a:lstStyle/>
          <a:p>
            <a:pPr marL="36900" indent="0">
              <a:lnSpc>
                <a:spcPct val="100000"/>
              </a:lnSpc>
              <a:buNone/>
            </a:pPr>
            <a:r>
              <a:rPr lang="en-US" sz="1600"/>
              <a:t>There are several tools commonly used within the industry to manage on-call scheduling and incident response. These tools integrate with monitoring systems, communication platforms, and ticketing systems. This helps to automate notifications and keep everyone informed during an incident. </a:t>
            </a:r>
          </a:p>
          <a:p>
            <a:pPr marL="36900" indent="0">
              <a:lnSpc>
                <a:spcPct val="100000"/>
              </a:lnSpc>
              <a:buNone/>
            </a:pPr>
            <a:r>
              <a:rPr lang="en-US" sz="1600"/>
              <a:t>Example of some available tools: </a:t>
            </a:r>
          </a:p>
          <a:p>
            <a:pPr>
              <a:lnSpc>
                <a:spcPct val="100000"/>
              </a:lnSpc>
            </a:pPr>
            <a:r>
              <a:rPr lang="en-US" sz="1600"/>
              <a:t>PagerDuty</a:t>
            </a:r>
          </a:p>
          <a:p>
            <a:pPr>
              <a:lnSpc>
                <a:spcPct val="100000"/>
              </a:lnSpc>
            </a:pPr>
            <a:r>
              <a:rPr lang="en-US" sz="1600" err="1"/>
              <a:t>Opsgenie</a:t>
            </a:r>
            <a:endParaRPr lang="en-US" sz="1600"/>
          </a:p>
          <a:p>
            <a:pPr>
              <a:lnSpc>
                <a:spcPct val="100000"/>
              </a:lnSpc>
            </a:pPr>
            <a:r>
              <a:rPr lang="en-US" sz="1600"/>
              <a:t>Splunk On-Call</a:t>
            </a:r>
          </a:p>
          <a:p>
            <a:pPr>
              <a:lnSpc>
                <a:spcPct val="100000"/>
              </a:lnSpc>
            </a:pPr>
            <a:r>
              <a:rPr lang="en-US" sz="1600"/>
              <a:t>ServiceNow</a:t>
            </a:r>
          </a:p>
        </p:txBody>
      </p:sp>
    </p:spTree>
    <p:extLst>
      <p:ext uri="{BB962C8B-B14F-4D97-AF65-F5344CB8AC3E}">
        <p14:creationId xmlns:p14="http://schemas.microsoft.com/office/powerpoint/2010/main" val="1418107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69960A3-4EE1-43D2-ABFC-C7A03ED21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DB3F02-07FE-2D90-AED8-E7B10BDD9A2B}"/>
              </a:ext>
            </a:extLst>
          </p:cNvPr>
          <p:cNvSpPr>
            <a:spLocks noGrp="1"/>
          </p:cNvSpPr>
          <p:nvPr>
            <p:ph type="title"/>
          </p:nvPr>
        </p:nvSpPr>
        <p:spPr>
          <a:xfrm>
            <a:off x="913795" y="609600"/>
            <a:ext cx="10353762" cy="1164772"/>
          </a:xfrm>
        </p:spPr>
        <p:txBody>
          <a:bodyPr>
            <a:normAutofit/>
          </a:bodyPr>
          <a:lstStyle/>
          <a:p>
            <a:r>
              <a:rPr lang="en-US"/>
              <a:t>Conclusion</a:t>
            </a:r>
            <a:endParaRPr lang="en-US" dirty="0"/>
          </a:p>
        </p:txBody>
      </p:sp>
      <p:pic>
        <p:nvPicPr>
          <p:cNvPr id="13" name="Picture 12">
            <a:extLst>
              <a:ext uri="{FF2B5EF4-FFF2-40B4-BE49-F238E27FC236}">
                <a16:creationId xmlns:a16="http://schemas.microsoft.com/office/drawing/2014/main" id="{16ABCF9F-46A6-4370-8EC8-B1EDB4510B54}"/>
              </a:ext>
              <a:ext uri="{C183D7F6-B498-43B3-948B-1728B52AA6E4}">
                <adec:decorative xmlns:adec="http://schemas.microsoft.com/office/drawing/2017/decorative" val="1"/>
              </a:ext>
            </a:extLst>
          </p:cNvPr>
          <p:cNvPicPr preferRelativeResize="0">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98" t="2669" r="616"/>
          <a:stretch/>
        </p:blipFill>
        <p:spPr>
          <a:xfrm>
            <a:off x="-1" y="2046514"/>
            <a:ext cx="12192001" cy="4811485"/>
          </a:xfrm>
          <a:prstGeom prst="rect">
            <a:avLst/>
          </a:prstGeom>
          <a:effectLst>
            <a:innerShdw blurRad="63500" dist="50800" dir="16200000">
              <a:prstClr val="black">
                <a:alpha val="50000"/>
              </a:prstClr>
            </a:innerShdw>
          </a:effectLst>
        </p:spPr>
      </p:pic>
      <p:sp>
        <p:nvSpPr>
          <p:cNvPr id="3" name="Content Placeholder 2">
            <a:extLst>
              <a:ext uri="{FF2B5EF4-FFF2-40B4-BE49-F238E27FC236}">
                <a16:creationId xmlns:a16="http://schemas.microsoft.com/office/drawing/2014/main" id="{CD71A4C3-8410-F6B8-6C6B-9F446A2548F5}"/>
              </a:ext>
            </a:extLst>
          </p:cNvPr>
          <p:cNvSpPr>
            <a:spLocks noGrp="1"/>
          </p:cNvSpPr>
          <p:nvPr>
            <p:ph idx="1"/>
          </p:nvPr>
        </p:nvSpPr>
        <p:spPr>
          <a:xfrm>
            <a:off x="1235528" y="2481943"/>
            <a:ext cx="9710296" cy="3309258"/>
          </a:xfrm>
        </p:spPr>
        <p:txBody>
          <a:bodyPr>
            <a:normAutofit/>
          </a:bodyPr>
          <a:lstStyle/>
          <a:p>
            <a:pPr marL="36900" indent="0">
              <a:buNone/>
            </a:pPr>
            <a:r>
              <a:rPr lang="en-US" dirty="0"/>
              <a:t>In simple terms, pager rotation can be thought of as an on-call system that is put in place to ensure that everyone on the team takes their turn being available to handle issues and alerts after hours. However, it is much more than that. Pager rotation is not just about responding to alerts, it is about building systems that become more reliable over time requiring fewer emergency interventions. Pager rotation is an important part of the DevOps model because it promotes shared ownership and accountability. </a:t>
            </a:r>
          </a:p>
        </p:txBody>
      </p:sp>
    </p:spTree>
    <p:extLst>
      <p:ext uri="{BB962C8B-B14F-4D97-AF65-F5344CB8AC3E}">
        <p14:creationId xmlns:p14="http://schemas.microsoft.com/office/powerpoint/2010/main" val="3099708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D7CC2-F4F3-3F21-417E-E908F6FA7003}"/>
              </a:ext>
            </a:extLst>
          </p:cNvPr>
          <p:cNvSpPr>
            <a:spLocks noGrp="1"/>
          </p:cNvSpPr>
          <p:nvPr>
            <p:ph type="title"/>
          </p:nvPr>
        </p:nvSpPr>
        <p:spPr>
          <a:xfrm>
            <a:off x="913795" y="174172"/>
            <a:ext cx="10353762" cy="1257300"/>
          </a:xfrm>
        </p:spPr>
        <p:txBody>
          <a:bodyPr/>
          <a:lstStyle/>
          <a:p>
            <a:r>
              <a:rPr lang="en-US" dirty="0"/>
              <a:t>Sources</a:t>
            </a:r>
          </a:p>
        </p:txBody>
      </p:sp>
      <p:sp>
        <p:nvSpPr>
          <p:cNvPr id="3" name="Content Placeholder 2">
            <a:extLst>
              <a:ext uri="{FF2B5EF4-FFF2-40B4-BE49-F238E27FC236}">
                <a16:creationId xmlns:a16="http://schemas.microsoft.com/office/drawing/2014/main" id="{FE593167-E5BA-EC57-CA53-6C6B948CE738}"/>
              </a:ext>
            </a:extLst>
          </p:cNvPr>
          <p:cNvSpPr>
            <a:spLocks noGrp="1"/>
          </p:cNvSpPr>
          <p:nvPr>
            <p:ph idx="1"/>
          </p:nvPr>
        </p:nvSpPr>
        <p:spPr>
          <a:xfrm>
            <a:off x="913795" y="1197429"/>
            <a:ext cx="10353762" cy="5344885"/>
          </a:xfrm>
        </p:spPr>
        <p:txBody>
          <a:bodyPr>
            <a:normAutofit fontScale="92500" lnSpcReduction="20000"/>
          </a:bodyPr>
          <a:lstStyle/>
          <a:p>
            <a:pPr marL="36900" indent="0">
              <a:buNone/>
            </a:pPr>
            <a:r>
              <a:rPr lang="en-US" dirty="0"/>
              <a:t>- Agile CRM. (N.D). How Important is Helpdesk for your Business. Retrieved from: </a:t>
            </a:r>
            <a:r>
              <a:rPr lang="en-US" dirty="0">
                <a:hlinkClick r:id="rId2"/>
              </a:rPr>
              <a:t>https://www.agilecrm.com/service-automation/how-important-is-helpdesk-for-your-business</a:t>
            </a:r>
            <a:endParaRPr lang="en-US" dirty="0"/>
          </a:p>
          <a:p>
            <a:pPr marL="36900" indent="0">
              <a:buNone/>
            </a:pPr>
            <a:r>
              <a:rPr lang="en-US" dirty="0"/>
              <a:t>- Atlassian. (N.D). Scaling On-Call in a DevOps Organization. Retrieved from: </a:t>
            </a:r>
            <a:r>
              <a:rPr lang="en-US" dirty="0">
                <a:hlinkClick r:id="rId3"/>
              </a:rPr>
              <a:t>https://pages.eml.atlassian.com/rs/594-ATC-127/images/Whitepaper-Scaling-On-Call-Dev-Ops-Organization.pdf</a:t>
            </a:r>
            <a:endParaRPr lang="en-US" dirty="0"/>
          </a:p>
          <a:p>
            <a:pPr marL="36900" indent="0">
              <a:buNone/>
            </a:pPr>
            <a:r>
              <a:rPr lang="en-US" dirty="0"/>
              <a:t>- Google Workbooks. (N.D). On-Call. Retrieved from: </a:t>
            </a:r>
            <a:r>
              <a:rPr lang="en-US" dirty="0">
                <a:hlinkClick r:id="rId4"/>
              </a:rPr>
              <a:t>https://sre.google/workbook/on-call/</a:t>
            </a:r>
            <a:endParaRPr lang="en-US" dirty="0"/>
          </a:p>
          <a:p>
            <a:pPr marL="36900" indent="0">
              <a:buNone/>
            </a:pPr>
            <a:r>
              <a:rPr lang="en-US" dirty="0"/>
              <a:t>- Kim, G., Humble, J., Debois, P., &amp; Willis, J. (2016). </a:t>
            </a:r>
            <a:r>
              <a:rPr lang="en-US" i="1" dirty="0"/>
              <a:t>The DevOps Handbook: How to create world-class agility, reliability, &amp; security in technology organizations</a:t>
            </a:r>
            <a:r>
              <a:rPr lang="en-US" dirty="0"/>
              <a:t> (pp. 263–264). IT Revolution Press.</a:t>
            </a:r>
          </a:p>
          <a:p>
            <a:pPr marL="36900" indent="0">
              <a:buNone/>
            </a:pPr>
            <a:r>
              <a:rPr lang="en-US" dirty="0"/>
              <a:t>- Medium. (2025, November 11). How to Run Effective On-Call Rotations Without Burning Out Your DevOps Team. Retrieved from: </a:t>
            </a:r>
            <a:r>
              <a:rPr lang="en-US" dirty="0">
                <a:hlinkClick r:id="rId5"/>
              </a:rPr>
              <a:t>https://medium.com/@alertsleep/how-to-run-effective-on-call-rotations-without-burning-out-your-devops-team-c2b40db98311</a:t>
            </a:r>
            <a:endParaRPr lang="en-US" dirty="0"/>
          </a:p>
          <a:p>
            <a:pPr marL="36900" indent="0">
              <a:buNone/>
            </a:pPr>
            <a:r>
              <a:rPr lang="en-US" dirty="0"/>
              <a:t>- Moss. (2026, February 16). DevOps On-Call Rotation Setup. Retrieved from: </a:t>
            </a:r>
            <a:r>
              <a:rPr lang="en-US" dirty="0">
                <a:hlinkClick r:id="rId6"/>
              </a:rPr>
              <a:t>http://moss.sh/devops-monitoring/devops-on-call-rotation-setup/</a:t>
            </a:r>
            <a:endParaRPr lang="en-US" dirty="0"/>
          </a:p>
          <a:p>
            <a:pPr marL="36900" indent="0">
              <a:buNone/>
            </a:pPr>
            <a:r>
              <a:rPr lang="en-US" dirty="0"/>
              <a:t>- PagerDuty. (N.D). On-Call Rotations and Schedules. Retrieved from: </a:t>
            </a:r>
            <a:r>
              <a:rPr lang="en-US" dirty="0">
                <a:hlinkClick r:id="rId7"/>
              </a:rPr>
              <a:t>https://www.pagerduty.com/resources/incident-management-response/learn/call-rotations-schedules/</a:t>
            </a:r>
            <a:endParaRPr lang="en-US" dirty="0"/>
          </a:p>
          <a:p>
            <a:pPr marL="36900" indent="0">
              <a:buNone/>
            </a:pPr>
            <a:endParaRPr lang="en-US" dirty="0"/>
          </a:p>
        </p:txBody>
      </p:sp>
    </p:spTree>
    <p:extLst>
      <p:ext uri="{BB962C8B-B14F-4D97-AF65-F5344CB8AC3E}">
        <p14:creationId xmlns:p14="http://schemas.microsoft.com/office/powerpoint/2010/main" val="17608470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Georgia Pro"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Dubai"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docProps/app.xml><?xml version="1.0" encoding="utf-8"?>
<Properties xmlns="http://schemas.openxmlformats.org/officeDocument/2006/extended-properties" xmlns:vt="http://schemas.openxmlformats.org/officeDocument/2006/docPropsVTypes">
  <TotalTime>516</TotalTime>
  <Words>1000</Words>
  <Application>Microsoft Macintosh PowerPoint</Application>
  <PresentationFormat>Widescreen</PresentationFormat>
  <Paragraphs>84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Dubai</vt:lpstr>
      <vt:lpstr>Georgia Pro</vt:lpstr>
      <vt:lpstr>Wingdings 2</vt:lpstr>
      <vt:lpstr>SlateVTI</vt:lpstr>
      <vt:lpstr>Pager Rotation Duties in DevOps</vt:lpstr>
      <vt:lpstr>Introduction</vt:lpstr>
      <vt:lpstr>What is Pager Rotation?</vt:lpstr>
      <vt:lpstr>Pager Rotation in DevOps</vt:lpstr>
      <vt:lpstr>Why Pager Rotation Matters</vt:lpstr>
      <vt:lpstr>Industry Best Practices</vt:lpstr>
      <vt:lpstr>Common Challenges</vt:lpstr>
      <vt:lpstr>How to Improve Pager Rotation Systems</vt:lpstr>
      <vt:lpstr>Available Tools to Support Pager Rotation</vt:lpstr>
      <vt:lpstr>Conclusion</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Joel Atkinson</dc:creator>
  <cp:lastModifiedBy>Joel Atkinson</cp:lastModifiedBy>
  <cp:revision>1</cp:revision>
  <dcterms:created xsi:type="dcterms:W3CDTF">2026-02-19T14:54:43Z</dcterms:created>
  <dcterms:modified xsi:type="dcterms:W3CDTF">2026-02-19T23:31:20Z</dcterms:modified>
</cp:coreProperties>
</file>