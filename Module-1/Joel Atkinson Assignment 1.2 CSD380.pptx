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sldIdLst>
    <p:sldId id="256" r:id="rId2"/>
    <p:sldId id="257" r:id="rId3"/>
    <p:sldId id="258" r:id="rId4"/>
    <p:sldId id="259" r:id="rId5"/>
    <p:sldId id="260" r:id="rId6"/>
    <p:sldId id="261" r:id="rId7"/>
    <p:sldId id="262" r:id="rId8"/>
    <p:sldId id="264" r:id="rId9"/>
    <p:sldId id="263"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719"/>
  </p:normalViewPr>
  <p:slideViewPr>
    <p:cSldViewPr snapToGrid="0">
      <p:cViewPr varScale="1">
        <p:scale>
          <a:sx n="152" d="100"/>
          <a:sy n="152" d="100"/>
        </p:scale>
        <p:origin x="85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756FB-E05E-443F-88A1-CFC90638997C}"/>
              </a:ext>
            </a:extLst>
          </p:cNvPr>
          <p:cNvSpPr>
            <a:spLocks noGrp="1"/>
          </p:cNvSpPr>
          <p:nvPr>
            <p:ph type="ctrTitle"/>
          </p:nvPr>
        </p:nvSpPr>
        <p:spPr>
          <a:xfrm>
            <a:off x="1084727" y="1597961"/>
            <a:ext cx="9144000" cy="31623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3C5DA97A-281B-4A77-9D2C-C5E6A860E645}"/>
              </a:ext>
            </a:extLst>
          </p:cNvPr>
          <p:cNvSpPr>
            <a:spLocks noGrp="1"/>
          </p:cNvSpPr>
          <p:nvPr>
            <p:ph type="subTitle" idx="1"/>
          </p:nvPr>
        </p:nvSpPr>
        <p:spPr>
          <a:xfrm>
            <a:off x="1084727" y="4902488"/>
            <a:ext cx="9144000" cy="985075"/>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FD7BAE-E194-4223-BB4E-5E487863F5BE}"/>
              </a:ext>
            </a:extLst>
          </p:cNvPr>
          <p:cNvSpPr>
            <a:spLocks noGrp="1"/>
          </p:cNvSpPr>
          <p:nvPr>
            <p:ph type="dt" sz="half" idx="10"/>
          </p:nvPr>
        </p:nvSpPr>
        <p:spPr/>
        <p:txBody>
          <a:bodyPr/>
          <a:lstStyle/>
          <a:p>
            <a:fld id="{8C28A28C-4C6A-46EA-90C0-4EE0B89CC5C7}" type="datetimeFigureOut">
              <a:rPr lang="en-US" smtClean="0"/>
              <a:t>1/7/26</a:t>
            </a:fld>
            <a:endParaRPr lang="en-US" dirty="0"/>
          </a:p>
        </p:txBody>
      </p:sp>
      <p:sp>
        <p:nvSpPr>
          <p:cNvPr id="5" name="Footer Placeholder 4">
            <a:extLst>
              <a:ext uri="{FF2B5EF4-FFF2-40B4-BE49-F238E27FC236}">
                <a16:creationId xmlns:a16="http://schemas.microsoft.com/office/drawing/2014/main" id="{9721F6C9-7279-4DF8-9462-3EFEFA03F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457072-0A38-49AD-8D0D-0E42DD488E4F}"/>
              </a:ext>
            </a:extLst>
          </p:cNvPr>
          <p:cNvSpPr>
            <a:spLocks noGrp="1"/>
          </p:cNvSpPr>
          <p:nvPr>
            <p:ph type="sldNum" sz="quarter" idx="12"/>
          </p:nvPr>
        </p:nvSpPr>
        <p:spPr/>
        <p:txBody>
          <a:bodyPr/>
          <a:lstStyle/>
          <a:p>
            <a:fld id="{5DEF7F31-0B8A-474A-B86C-91F381754329}" type="slidenum">
              <a:rPr lang="en-US" smtClean="0"/>
              <a:t>‹#›</a:t>
            </a:fld>
            <a:endParaRPr lang="en-US" dirty="0"/>
          </a:p>
        </p:txBody>
      </p:sp>
    </p:spTree>
    <p:extLst>
      <p:ext uri="{BB962C8B-B14F-4D97-AF65-F5344CB8AC3E}">
        <p14:creationId xmlns:p14="http://schemas.microsoft.com/office/powerpoint/2010/main" val="1833317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98199-C6CF-4DFF-A750-435F06CC74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F2D5EB-F993-411F-9DBA-971321FC00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A5D216-27F9-4078-8349-ABC9F614A5E7}"/>
              </a:ext>
            </a:extLst>
          </p:cNvPr>
          <p:cNvSpPr>
            <a:spLocks noGrp="1"/>
          </p:cNvSpPr>
          <p:nvPr>
            <p:ph type="dt" sz="half" idx="10"/>
          </p:nvPr>
        </p:nvSpPr>
        <p:spPr/>
        <p:txBody>
          <a:bodyPr/>
          <a:lstStyle/>
          <a:p>
            <a:fld id="{8C28A28C-4C6A-46EA-90C0-4EE0B89CC5C7}" type="datetimeFigureOut">
              <a:rPr lang="en-US" smtClean="0"/>
              <a:t>1/7/26</a:t>
            </a:fld>
            <a:endParaRPr lang="en-US"/>
          </a:p>
        </p:txBody>
      </p:sp>
      <p:sp>
        <p:nvSpPr>
          <p:cNvPr id="5" name="Footer Placeholder 4">
            <a:extLst>
              <a:ext uri="{FF2B5EF4-FFF2-40B4-BE49-F238E27FC236}">
                <a16:creationId xmlns:a16="http://schemas.microsoft.com/office/drawing/2014/main" id="{4384F8A8-FBA7-4F25-ADEA-AF346495DE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4609F8-5897-4724-8FA6-3EFDE8F2DD79}"/>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2875390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C0F0C-7BA8-490D-B4C9-CCE145DCD19A}"/>
              </a:ext>
            </a:extLst>
          </p:cNvPr>
          <p:cNvSpPr>
            <a:spLocks noGrp="1"/>
          </p:cNvSpPr>
          <p:nvPr>
            <p:ph type="title"/>
          </p:nvPr>
        </p:nvSpPr>
        <p:spPr>
          <a:xfrm>
            <a:off x="1084726" y="1709738"/>
            <a:ext cx="9143999" cy="3050523"/>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290E61-B837-4BE4-9BC7-6AF706BCCA42}"/>
              </a:ext>
            </a:extLst>
          </p:cNvPr>
          <p:cNvSpPr>
            <a:spLocks noGrp="1"/>
          </p:cNvSpPr>
          <p:nvPr>
            <p:ph type="body" idx="1"/>
          </p:nvPr>
        </p:nvSpPr>
        <p:spPr>
          <a:xfrm>
            <a:off x="1084726" y="4902488"/>
            <a:ext cx="9143999" cy="9850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52E15F-E46D-44C6-9FB9-07B0BC545AEF}"/>
              </a:ext>
            </a:extLst>
          </p:cNvPr>
          <p:cNvSpPr>
            <a:spLocks noGrp="1"/>
          </p:cNvSpPr>
          <p:nvPr>
            <p:ph type="dt" sz="half" idx="10"/>
          </p:nvPr>
        </p:nvSpPr>
        <p:spPr/>
        <p:txBody>
          <a:bodyPr/>
          <a:lstStyle/>
          <a:p>
            <a:fld id="{8C28A28C-4C6A-46EA-90C0-4EE0B89CC5C7}" type="datetimeFigureOut">
              <a:rPr lang="en-US" smtClean="0"/>
              <a:t>1/7/26</a:t>
            </a:fld>
            <a:endParaRPr lang="en-US"/>
          </a:p>
        </p:txBody>
      </p:sp>
      <p:sp>
        <p:nvSpPr>
          <p:cNvPr id="5" name="Footer Placeholder 4">
            <a:extLst>
              <a:ext uri="{FF2B5EF4-FFF2-40B4-BE49-F238E27FC236}">
                <a16:creationId xmlns:a16="http://schemas.microsoft.com/office/drawing/2014/main" id="{2EBF6955-3667-4857-B35A-9E12F79886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4B309-D15E-4FA1-9B8D-8C1F3B56C375}"/>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993444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19AB-91F9-4F80-9B5D-2E6FE925F0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19F334-D0CF-4DFD-BAA9-3ECD639B1F1E}"/>
              </a:ext>
            </a:extLst>
          </p:cNvPr>
          <p:cNvSpPr>
            <a:spLocks noGrp="1"/>
          </p:cNvSpPr>
          <p:nvPr>
            <p:ph sz="half" idx="1"/>
          </p:nvPr>
        </p:nvSpPr>
        <p:spPr>
          <a:xfrm>
            <a:off x="1077362" y="2227809"/>
            <a:ext cx="4942438" cy="3949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5E0B5D-4613-4DA7-BA20-58B19BE8A496}"/>
              </a:ext>
            </a:extLst>
          </p:cNvPr>
          <p:cNvSpPr>
            <a:spLocks noGrp="1"/>
          </p:cNvSpPr>
          <p:nvPr>
            <p:ph sz="half" idx="2"/>
          </p:nvPr>
        </p:nvSpPr>
        <p:spPr>
          <a:xfrm>
            <a:off x="6172200" y="2227809"/>
            <a:ext cx="4855265" cy="39491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F311AB-0603-424D-BC42-0CEAB3562BA4}"/>
              </a:ext>
            </a:extLst>
          </p:cNvPr>
          <p:cNvSpPr>
            <a:spLocks noGrp="1"/>
          </p:cNvSpPr>
          <p:nvPr>
            <p:ph type="dt" sz="half" idx="10"/>
          </p:nvPr>
        </p:nvSpPr>
        <p:spPr/>
        <p:txBody>
          <a:bodyPr/>
          <a:lstStyle/>
          <a:p>
            <a:fld id="{8C28A28C-4C6A-46EA-90C0-4EE0B89CC5C7}" type="datetimeFigureOut">
              <a:rPr lang="en-US" smtClean="0"/>
              <a:t>1/7/26</a:t>
            </a:fld>
            <a:endParaRPr lang="en-US"/>
          </a:p>
        </p:txBody>
      </p:sp>
      <p:sp>
        <p:nvSpPr>
          <p:cNvPr id="6" name="Footer Placeholder 5">
            <a:extLst>
              <a:ext uri="{FF2B5EF4-FFF2-40B4-BE49-F238E27FC236}">
                <a16:creationId xmlns:a16="http://schemas.microsoft.com/office/drawing/2014/main" id="{7A3AA2AC-0C5F-4835-BE47-D780C29890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6C54C0-DFDA-4778-9EE8-5E5C30E05412}"/>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363121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F3603-5B09-4916-8324-A6BDAB4E060E}"/>
              </a:ext>
            </a:extLst>
          </p:cNvPr>
          <p:cNvSpPr>
            <a:spLocks noGrp="1"/>
          </p:cNvSpPr>
          <p:nvPr>
            <p:ph type="title"/>
          </p:nvPr>
        </p:nvSpPr>
        <p:spPr>
          <a:xfrm>
            <a:off x="1084726" y="365125"/>
            <a:ext cx="9942739"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74073C-C15B-4218-9B84-6758955176E7}"/>
              </a:ext>
            </a:extLst>
          </p:cNvPr>
          <p:cNvSpPr>
            <a:spLocks noGrp="1"/>
          </p:cNvSpPr>
          <p:nvPr>
            <p:ph type="body" idx="1"/>
          </p:nvPr>
        </p:nvSpPr>
        <p:spPr>
          <a:xfrm>
            <a:off x="1084725" y="1681163"/>
            <a:ext cx="49128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116D27-36F6-440B-A9BE-8B9499047CEF}"/>
              </a:ext>
            </a:extLst>
          </p:cNvPr>
          <p:cNvSpPr>
            <a:spLocks noGrp="1"/>
          </p:cNvSpPr>
          <p:nvPr>
            <p:ph sz="half" idx="2"/>
          </p:nvPr>
        </p:nvSpPr>
        <p:spPr>
          <a:xfrm>
            <a:off x="1084726" y="2505075"/>
            <a:ext cx="4912849"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C12010D-7AC4-4A70-A211-6A29274119DB}"/>
              </a:ext>
            </a:extLst>
          </p:cNvPr>
          <p:cNvSpPr>
            <a:spLocks noGrp="1"/>
          </p:cNvSpPr>
          <p:nvPr>
            <p:ph type="body" sz="quarter" idx="3"/>
          </p:nvPr>
        </p:nvSpPr>
        <p:spPr>
          <a:xfrm>
            <a:off x="6172200" y="1681163"/>
            <a:ext cx="48552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AE85B5-3350-49A4-86A1-E5DAED491624}"/>
              </a:ext>
            </a:extLst>
          </p:cNvPr>
          <p:cNvSpPr>
            <a:spLocks noGrp="1"/>
          </p:cNvSpPr>
          <p:nvPr>
            <p:ph sz="quarter" idx="4"/>
          </p:nvPr>
        </p:nvSpPr>
        <p:spPr>
          <a:xfrm>
            <a:off x="6172200" y="2505075"/>
            <a:ext cx="485526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73E874-D08B-4D81-B82D-5DF242E4A1AA}"/>
              </a:ext>
            </a:extLst>
          </p:cNvPr>
          <p:cNvSpPr>
            <a:spLocks noGrp="1"/>
          </p:cNvSpPr>
          <p:nvPr>
            <p:ph type="dt" sz="half" idx="10"/>
          </p:nvPr>
        </p:nvSpPr>
        <p:spPr/>
        <p:txBody>
          <a:bodyPr/>
          <a:lstStyle/>
          <a:p>
            <a:fld id="{8C28A28C-4C6A-46EA-90C0-4EE0B89CC5C7}" type="datetimeFigureOut">
              <a:rPr lang="en-US" smtClean="0"/>
              <a:t>1/7/26</a:t>
            </a:fld>
            <a:endParaRPr lang="en-US"/>
          </a:p>
        </p:txBody>
      </p:sp>
      <p:sp>
        <p:nvSpPr>
          <p:cNvPr id="8" name="Footer Placeholder 7">
            <a:extLst>
              <a:ext uri="{FF2B5EF4-FFF2-40B4-BE49-F238E27FC236}">
                <a16:creationId xmlns:a16="http://schemas.microsoft.com/office/drawing/2014/main" id="{AE174067-0FFA-41C3-A3A6-E8907CC32D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947985-FBC0-4118-8877-2E327F637DF5}"/>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102476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E0282-3DE7-4AB9-83AC-AFEDD22AF3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A7436C-706A-443F-86CD-4444C82818B2}"/>
              </a:ext>
            </a:extLst>
          </p:cNvPr>
          <p:cNvSpPr>
            <a:spLocks noGrp="1"/>
          </p:cNvSpPr>
          <p:nvPr>
            <p:ph type="dt" sz="half" idx="10"/>
          </p:nvPr>
        </p:nvSpPr>
        <p:spPr/>
        <p:txBody>
          <a:bodyPr/>
          <a:lstStyle/>
          <a:p>
            <a:fld id="{8C28A28C-4C6A-46EA-90C0-4EE0B89CC5C7}" type="datetimeFigureOut">
              <a:rPr lang="en-US" smtClean="0"/>
              <a:t>1/7/26</a:t>
            </a:fld>
            <a:endParaRPr lang="en-US"/>
          </a:p>
        </p:txBody>
      </p:sp>
      <p:sp>
        <p:nvSpPr>
          <p:cNvPr id="4" name="Footer Placeholder 3">
            <a:extLst>
              <a:ext uri="{FF2B5EF4-FFF2-40B4-BE49-F238E27FC236}">
                <a16:creationId xmlns:a16="http://schemas.microsoft.com/office/drawing/2014/main" id="{09B53292-7EA5-45D0-957F-636A44FC06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76F59D-34BB-462C-B506-040B9E982FCB}"/>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4292370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E55245-AB52-41B4-9B28-55E6527DA2F8}"/>
              </a:ext>
            </a:extLst>
          </p:cNvPr>
          <p:cNvSpPr>
            <a:spLocks noGrp="1"/>
          </p:cNvSpPr>
          <p:nvPr>
            <p:ph type="dt" sz="half" idx="10"/>
          </p:nvPr>
        </p:nvSpPr>
        <p:spPr/>
        <p:txBody>
          <a:bodyPr/>
          <a:lstStyle/>
          <a:p>
            <a:fld id="{8C28A28C-4C6A-46EA-90C0-4EE0B89CC5C7}" type="datetimeFigureOut">
              <a:rPr lang="en-US" smtClean="0"/>
              <a:t>1/7/26</a:t>
            </a:fld>
            <a:endParaRPr lang="en-US"/>
          </a:p>
        </p:txBody>
      </p:sp>
      <p:sp>
        <p:nvSpPr>
          <p:cNvPr id="3" name="Footer Placeholder 2">
            <a:extLst>
              <a:ext uri="{FF2B5EF4-FFF2-40B4-BE49-F238E27FC236}">
                <a16:creationId xmlns:a16="http://schemas.microsoft.com/office/drawing/2014/main" id="{CA73B8AE-58B0-4FDF-8430-9D8D3DD537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9E4D91-8619-43C1-841B-B5F47DE01739}"/>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2111574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DA660-DF93-4947-B93F-BF118D3B5F80}"/>
              </a:ext>
            </a:extLst>
          </p:cNvPr>
          <p:cNvSpPr>
            <a:spLocks noGrp="1"/>
          </p:cNvSpPr>
          <p:nvPr>
            <p:ph type="title"/>
          </p:nvPr>
        </p:nvSpPr>
        <p:spPr>
          <a:xfrm>
            <a:off x="1084727" y="457200"/>
            <a:ext cx="3687298"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2F0292E-B3E1-4FD6-A7FA-C165BAC21C28}"/>
              </a:ext>
            </a:extLst>
          </p:cNvPr>
          <p:cNvSpPr>
            <a:spLocks noGrp="1"/>
          </p:cNvSpPr>
          <p:nvPr>
            <p:ph idx="1"/>
          </p:nvPr>
        </p:nvSpPr>
        <p:spPr>
          <a:xfrm>
            <a:off x="5183188" y="987425"/>
            <a:ext cx="5844277"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EFB0ECC-817B-4A71-AFB5-FC60A2BC3ABC}"/>
              </a:ext>
            </a:extLst>
          </p:cNvPr>
          <p:cNvSpPr>
            <a:spLocks noGrp="1"/>
          </p:cNvSpPr>
          <p:nvPr>
            <p:ph type="body" sz="half" idx="2"/>
          </p:nvPr>
        </p:nvSpPr>
        <p:spPr>
          <a:xfrm>
            <a:off x="1084727" y="2253343"/>
            <a:ext cx="3687298" cy="3615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7788E0B-6135-4F59-A35A-2CA1A8BA4ED2}"/>
              </a:ext>
            </a:extLst>
          </p:cNvPr>
          <p:cNvSpPr>
            <a:spLocks noGrp="1"/>
          </p:cNvSpPr>
          <p:nvPr>
            <p:ph type="dt" sz="half" idx="10"/>
          </p:nvPr>
        </p:nvSpPr>
        <p:spPr/>
        <p:txBody>
          <a:bodyPr/>
          <a:lstStyle/>
          <a:p>
            <a:fld id="{8C28A28C-4C6A-46EA-90C0-4EE0B89CC5C7}" type="datetimeFigureOut">
              <a:rPr lang="en-US" smtClean="0"/>
              <a:t>1/7/26</a:t>
            </a:fld>
            <a:endParaRPr lang="en-US"/>
          </a:p>
        </p:txBody>
      </p:sp>
      <p:sp>
        <p:nvSpPr>
          <p:cNvPr id="6" name="Footer Placeholder 5">
            <a:extLst>
              <a:ext uri="{FF2B5EF4-FFF2-40B4-BE49-F238E27FC236}">
                <a16:creationId xmlns:a16="http://schemas.microsoft.com/office/drawing/2014/main" id="{FD0DEF36-4037-4E6D-988F-CC8E3F11C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5C0D2D-D878-4723-A002-5A601EFB48A0}"/>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1110658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C59D5-B8A1-4C9C-A61F-E082A44330BB}"/>
              </a:ext>
            </a:extLst>
          </p:cNvPr>
          <p:cNvSpPr>
            <a:spLocks noGrp="1"/>
          </p:cNvSpPr>
          <p:nvPr>
            <p:ph type="title"/>
          </p:nvPr>
        </p:nvSpPr>
        <p:spPr>
          <a:xfrm>
            <a:off x="1084727" y="720433"/>
            <a:ext cx="3687298" cy="1587337"/>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4CB4F5F-E6E7-45C3-B35C-80F81FB1A5E8}"/>
              </a:ext>
            </a:extLst>
          </p:cNvPr>
          <p:cNvSpPr>
            <a:spLocks noGrp="1"/>
          </p:cNvSpPr>
          <p:nvPr>
            <p:ph type="pic" idx="1"/>
          </p:nvPr>
        </p:nvSpPr>
        <p:spPr>
          <a:xfrm>
            <a:off x="5183188" y="987425"/>
            <a:ext cx="58277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633AB7-4F8E-4A9F-AC15-89E6A6E00347}"/>
              </a:ext>
            </a:extLst>
          </p:cNvPr>
          <p:cNvSpPr>
            <a:spLocks noGrp="1"/>
          </p:cNvSpPr>
          <p:nvPr>
            <p:ph type="body" sz="half" idx="2"/>
          </p:nvPr>
        </p:nvSpPr>
        <p:spPr>
          <a:xfrm>
            <a:off x="1084727" y="2449286"/>
            <a:ext cx="3687298" cy="3419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074B526-866D-4E11-A7F9-081BD4EDF484}"/>
              </a:ext>
            </a:extLst>
          </p:cNvPr>
          <p:cNvSpPr>
            <a:spLocks noGrp="1"/>
          </p:cNvSpPr>
          <p:nvPr>
            <p:ph type="dt" sz="half" idx="10"/>
          </p:nvPr>
        </p:nvSpPr>
        <p:spPr/>
        <p:txBody>
          <a:bodyPr/>
          <a:lstStyle/>
          <a:p>
            <a:fld id="{8C28A28C-4C6A-46EA-90C0-4EE0B89CC5C7}" type="datetimeFigureOut">
              <a:rPr lang="en-US" smtClean="0"/>
              <a:t>1/7/26</a:t>
            </a:fld>
            <a:endParaRPr lang="en-US"/>
          </a:p>
        </p:txBody>
      </p:sp>
      <p:sp>
        <p:nvSpPr>
          <p:cNvPr id="6" name="Footer Placeholder 5">
            <a:extLst>
              <a:ext uri="{FF2B5EF4-FFF2-40B4-BE49-F238E27FC236}">
                <a16:creationId xmlns:a16="http://schemas.microsoft.com/office/drawing/2014/main" id="{CD758BF8-E962-4367-8495-62438FDD48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C20AE1-C97D-4E6C-9DB2-B2904C2CF247}"/>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2623694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89E81-5CFF-4A28-B9C8-5D54E51DF202}"/>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58A4CC8-DCB0-4E94-98A7-236E3D1866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1F802-21C2-44B2-A419-55469D826571}"/>
              </a:ext>
            </a:extLst>
          </p:cNvPr>
          <p:cNvSpPr>
            <a:spLocks noGrp="1"/>
          </p:cNvSpPr>
          <p:nvPr>
            <p:ph type="dt" sz="half" idx="10"/>
          </p:nvPr>
        </p:nvSpPr>
        <p:spPr/>
        <p:txBody>
          <a:bodyPr/>
          <a:lstStyle/>
          <a:p>
            <a:fld id="{8C28A28C-4C6A-46EA-90C0-4EE0B89CC5C7}" type="datetimeFigureOut">
              <a:rPr lang="en-US" smtClean="0"/>
              <a:t>1/7/26</a:t>
            </a:fld>
            <a:endParaRPr lang="en-US"/>
          </a:p>
        </p:txBody>
      </p:sp>
      <p:sp>
        <p:nvSpPr>
          <p:cNvPr id="5" name="Footer Placeholder 4">
            <a:extLst>
              <a:ext uri="{FF2B5EF4-FFF2-40B4-BE49-F238E27FC236}">
                <a16:creationId xmlns:a16="http://schemas.microsoft.com/office/drawing/2014/main" id="{84BDB709-08FF-4C4A-8670-4CCA9146F9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95375-1CC8-4950-8439-877451C4266D}"/>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3502541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8BDF0-A155-454D-B3E2-AD15D0905A62}"/>
              </a:ext>
            </a:extLst>
          </p:cNvPr>
          <p:cNvSpPr>
            <a:spLocks noGrp="1"/>
          </p:cNvSpPr>
          <p:nvPr>
            <p:ph type="title" orient="vert"/>
          </p:nvPr>
        </p:nvSpPr>
        <p:spPr>
          <a:xfrm>
            <a:off x="9073242" y="827313"/>
            <a:ext cx="2280557" cy="5061857"/>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07244E0D-96EC-4B35-BA5C-5DAFCC7281AE}"/>
              </a:ext>
            </a:extLst>
          </p:cNvPr>
          <p:cNvSpPr>
            <a:spLocks noGrp="1"/>
          </p:cNvSpPr>
          <p:nvPr>
            <p:ph type="body" orient="vert" idx="1"/>
          </p:nvPr>
        </p:nvSpPr>
        <p:spPr>
          <a:xfrm>
            <a:off x="838200" y="827313"/>
            <a:ext cx="8115300" cy="506185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3ADC4E-9FB1-439F-B0FB-47F47B3421A7}"/>
              </a:ext>
            </a:extLst>
          </p:cNvPr>
          <p:cNvSpPr>
            <a:spLocks noGrp="1"/>
          </p:cNvSpPr>
          <p:nvPr>
            <p:ph type="dt" sz="half" idx="10"/>
          </p:nvPr>
        </p:nvSpPr>
        <p:spPr/>
        <p:txBody>
          <a:bodyPr/>
          <a:lstStyle/>
          <a:p>
            <a:fld id="{8C28A28C-4C6A-46EA-90C0-4EE0B89CC5C7}" type="datetimeFigureOut">
              <a:rPr lang="en-US" smtClean="0"/>
              <a:t>1/7/26</a:t>
            </a:fld>
            <a:endParaRPr lang="en-US"/>
          </a:p>
        </p:txBody>
      </p:sp>
      <p:sp>
        <p:nvSpPr>
          <p:cNvPr id="5" name="Footer Placeholder 4">
            <a:extLst>
              <a:ext uri="{FF2B5EF4-FFF2-40B4-BE49-F238E27FC236}">
                <a16:creationId xmlns:a16="http://schemas.microsoft.com/office/drawing/2014/main" id="{637EE406-061A-4440-BA75-3B684FC848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6D93CF-F5F3-4897-A51E-47D577FDD344}"/>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1986220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192E3E-68A9-4F36-936C-1C8D0B9EF132}"/>
              </a:ext>
            </a:extLst>
          </p:cNvPr>
          <p:cNvSpPr/>
          <p:nvPr/>
        </p:nvSpPr>
        <p:spPr>
          <a:xfrm>
            <a:off x="8803792" y="345589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3F214EB0-7E6D-4536-9350-5CB688B56F26}"/>
              </a:ext>
            </a:extLst>
          </p:cNvPr>
          <p:cNvSpPr>
            <a:spLocks noGrp="1"/>
          </p:cNvSpPr>
          <p:nvPr>
            <p:ph type="title"/>
          </p:nvPr>
        </p:nvSpPr>
        <p:spPr>
          <a:xfrm>
            <a:off x="1077362" y="720434"/>
            <a:ext cx="9950103" cy="150737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ABF5455E-4725-4924-BF7D-2E1FC9E391F8}"/>
              </a:ext>
            </a:extLst>
          </p:cNvPr>
          <p:cNvSpPr>
            <a:spLocks noGrp="1"/>
          </p:cNvSpPr>
          <p:nvPr>
            <p:ph type="body" idx="1"/>
          </p:nvPr>
        </p:nvSpPr>
        <p:spPr>
          <a:xfrm>
            <a:off x="1077362" y="2427316"/>
            <a:ext cx="9950103" cy="35135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2CAD9D9-1A1D-4438-9F3D-E5E58FD72F1F}"/>
              </a:ext>
            </a:extLst>
          </p:cNvPr>
          <p:cNvSpPr>
            <a:spLocks noGrp="1"/>
          </p:cNvSpPr>
          <p:nvPr>
            <p:ph type="dt" sz="half" idx="2"/>
          </p:nvPr>
        </p:nvSpPr>
        <p:spPr>
          <a:xfrm>
            <a:off x="9243751" y="6356350"/>
            <a:ext cx="2296603" cy="365125"/>
          </a:xfrm>
          <a:prstGeom prst="rect">
            <a:avLst/>
          </a:prstGeom>
        </p:spPr>
        <p:txBody>
          <a:bodyPr vert="horz" lIns="91440" tIns="45720" rIns="91440" bIns="45720" rtlCol="0" anchor="ctr"/>
          <a:lstStyle>
            <a:lvl1pPr algn="r">
              <a:defRPr sz="900">
                <a:solidFill>
                  <a:schemeClr val="bg1"/>
                </a:solidFill>
              </a:defRPr>
            </a:lvl1pPr>
          </a:lstStyle>
          <a:p>
            <a:fld id="{8C28A28C-4C6A-46EA-90C0-4EE0B89CC5C7}" type="datetimeFigureOut">
              <a:rPr lang="en-US" smtClean="0"/>
              <a:pPr/>
              <a:t>1/7/26</a:t>
            </a:fld>
            <a:endParaRPr lang="en-US" dirty="0"/>
          </a:p>
        </p:txBody>
      </p:sp>
      <p:sp>
        <p:nvSpPr>
          <p:cNvPr id="5" name="Footer Placeholder 4">
            <a:extLst>
              <a:ext uri="{FF2B5EF4-FFF2-40B4-BE49-F238E27FC236}">
                <a16:creationId xmlns:a16="http://schemas.microsoft.com/office/drawing/2014/main" id="{AE80A827-D7BF-4CA4-8C29-5AE54ADA4787}"/>
              </a:ext>
            </a:extLst>
          </p:cNvPr>
          <p:cNvSpPr>
            <a:spLocks noGrp="1"/>
          </p:cNvSpPr>
          <p:nvPr>
            <p:ph type="ftr" sz="quarter" idx="3"/>
          </p:nvPr>
        </p:nvSpPr>
        <p:spPr>
          <a:xfrm rot="5400000">
            <a:off x="-1610380" y="1926575"/>
            <a:ext cx="3830351"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06717188-1DE1-4DA5-8161-21179E4ADEAE}"/>
              </a:ext>
            </a:extLst>
          </p:cNvPr>
          <p:cNvSpPr>
            <a:spLocks noGrp="1"/>
          </p:cNvSpPr>
          <p:nvPr>
            <p:ph type="sldNum" sz="quarter" idx="4"/>
          </p:nvPr>
        </p:nvSpPr>
        <p:spPr>
          <a:xfrm>
            <a:off x="11540355" y="6356350"/>
            <a:ext cx="410973" cy="365125"/>
          </a:xfrm>
          <a:prstGeom prst="rect">
            <a:avLst/>
          </a:prstGeom>
        </p:spPr>
        <p:txBody>
          <a:bodyPr vert="horz" lIns="91440" tIns="45720" rIns="91440" bIns="45720" rtlCol="0" anchor="ctr"/>
          <a:lstStyle>
            <a:lvl1pPr algn="r">
              <a:defRPr sz="900">
                <a:solidFill>
                  <a:schemeClr val="bg1"/>
                </a:solidFill>
              </a:defRPr>
            </a:lvl1pPr>
          </a:lstStyle>
          <a:p>
            <a:fld id="{5DEF7F31-0B8A-474A-B86C-91F381754329}" type="slidenum">
              <a:rPr lang="en-US" smtClean="0"/>
              <a:pPr/>
              <a:t>‹#›</a:t>
            </a:fld>
            <a:endParaRPr lang="en-US" dirty="0"/>
          </a:p>
        </p:txBody>
      </p:sp>
    </p:spTree>
    <p:extLst>
      <p:ext uri="{BB962C8B-B14F-4D97-AF65-F5344CB8AC3E}">
        <p14:creationId xmlns:p14="http://schemas.microsoft.com/office/powerpoint/2010/main" val="298272801"/>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7" r:id="rId6"/>
    <p:sldLayoutId id="2147483732" r:id="rId7"/>
    <p:sldLayoutId id="2147483733" r:id="rId8"/>
    <p:sldLayoutId id="2147483734" r:id="rId9"/>
    <p:sldLayoutId id="2147483736" r:id="rId10"/>
    <p:sldLayoutId id="2147483735" r:id="rId11"/>
  </p:sldLayoutIdLst>
  <p:txStyles>
    <p:titleStyle>
      <a:lvl1pPr algn="l" defTabSz="914400" rtl="0" eaLnBrk="1" latinLnBrk="0" hangingPunct="1">
        <a:lnSpc>
          <a:spcPct val="110000"/>
        </a:lnSpc>
        <a:spcBef>
          <a:spcPct val="0"/>
        </a:spcBef>
        <a:buNone/>
        <a:defRPr sz="3200" b="1" kern="120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486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94360"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2296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ocs.aws.amazon.com/prescriptive-guidance/latest/strategy-devops-value-stream-mapping/introduction.html"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purdue.edu/leansixsigmaonline/blog/value-stream-mapp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kaufmanglobal.com/glossary/lead-tim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evopedia.org/devops"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aws.amazon.com/prescriptive-guidance/latest/strategy-devops-value-stream-mapping/introduction.html?referrer=grok.com" TargetMode="External"/><Relationship Id="rId2" Type="http://schemas.openxmlformats.org/officeDocument/2006/relationships/hyperlink" Target="https://devopedia.org/devops?referrer=grok.com" TargetMode="External"/><Relationship Id="rId1" Type="http://schemas.openxmlformats.org/officeDocument/2006/relationships/slideLayout" Target="../slideLayouts/slideLayout2.xml"/><Relationship Id="rId6" Type="http://schemas.openxmlformats.org/officeDocument/2006/relationships/hyperlink" Target="Bruneaux,%20T.%20(2025,%20October%2030).%20Value%20stream%20mapping:%20A%20complete%20guide%20for%20software%20engineering%20teams.%20DX.%20https:/getdx.com/blog/value-stream-analysis" TargetMode="External"/><Relationship Id="rId5" Type="http://schemas.openxmlformats.org/officeDocument/2006/relationships/hyperlink" Target="https://www.kaufmanglobal.com/glossary/lead-time/" TargetMode="External"/><Relationship Id="rId4" Type="http://schemas.openxmlformats.org/officeDocument/2006/relationships/hyperlink" Target="https://www.purdue.edu/leansixsigmaonline/blog/value-stream-mapping/?referrer=grok.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598E420-4FFC-4D35-B15F-045E166EE5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4EA93B-04B8-D832-DA30-810B8C6EE5FF}"/>
              </a:ext>
            </a:extLst>
          </p:cNvPr>
          <p:cNvSpPr>
            <a:spLocks noGrp="1"/>
          </p:cNvSpPr>
          <p:nvPr>
            <p:ph type="ctrTitle"/>
          </p:nvPr>
        </p:nvSpPr>
        <p:spPr>
          <a:xfrm>
            <a:off x="1683314" y="3909270"/>
            <a:ext cx="8657450" cy="558957"/>
          </a:xfrm>
        </p:spPr>
        <p:txBody>
          <a:bodyPr anchor="b">
            <a:normAutofit fontScale="90000"/>
          </a:bodyPr>
          <a:lstStyle/>
          <a:p>
            <a:pPr algn="ctr"/>
            <a:r>
              <a:rPr lang="en-US" dirty="0"/>
              <a:t>The Technology Value Stream</a:t>
            </a:r>
          </a:p>
        </p:txBody>
      </p:sp>
      <p:sp>
        <p:nvSpPr>
          <p:cNvPr id="3" name="Subtitle 2">
            <a:extLst>
              <a:ext uri="{FF2B5EF4-FFF2-40B4-BE49-F238E27FC236}">
                <a16:creationId xmlns:a16="http://schemas.microsoft.com/office/drawing/2014/main" id="{3562E9C4-5C64-56F6-BB9B-7F849C1F81E1}"/>
              </a:ext>
            </a:extLst>
          </p:cNvPr>
          <p:cNvSpPr>
            <a:spLocks noGrp="1"/>
          </p:cNvSpPr>
          <p:nvPr>
            <p:ph type="subTitle" idx="1"/>
          </p:nvPr>
        </p:nvSpPr>
        <p:spPr>
          <a:xfrm>
            <a:off x="1767275" y="4640200"/>
            <a:ext cx="8657450" cy="681942"/>
          </a:xfrm>
        </p:spPr>
        <p:txBody>
          <a:bodyPr anchor="t">
            <a:noAutofit/>
          </a:bodyPr>
          <a:lstStyle/>
          <a:p>
            <a:pPr algn="ctr"/>
            <a:r>
              <a:rPr lang="en-US" sz="1600" dirty="0"/>
              <a:t>Joel Atkinson</a:t>
            </a:r>
          </a:p>
          <a:p>
            <a:pPr algn="ctr"/>
            <a:r>
              <a:rPr lang="en-US" sz="1600" dirty="0"/>
              <a:t>January 7, 2026</a:t>
            </a:r>
          </a:p>
          <a:p>
            <a:pPr algn="ctr"/>
            <a:r>
              <a:rPr lang="en-US" sz="1600" dirty="0"/>
              <a:t>CSD380 DevOps</a:t>
            </a:r>
          </a:p>
        </p:txBody>
      </p:sp>
      <p:sp>
        <p:nvSpPr>
          <p:cNvPr id="11" name="Freeform: Shape 10">
            <a:extLst>
              <a:ext uri="{FF2B5EF4-FFF2-40B4-BE49-F238E27FC236}">
                <a16:creationId xmlns:a16="http://schemas.microsoft.com/office/drawing/2014/main" id="{46DEAA51-8BA5-4C87-9448-75CBB18F09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36259" y="-4126"/>
            <a:ext cx="3526736" cy="3420239"/>
          </a:xfrm>
          <a:custGeom>
            <a:avLst/>
            <a:gdLst>
              <a:gd name="connsiteX0" fmla="*/ 3526736 w 3526736"/>
              <a:gd name="connsiteY0" fmla="*/ 3420239 h 3420239"/>
              <a:gd name="connsiteX1" fmla="*/ 0 w 3526736"/>
              <a:gd name="connsiteY1" fmla="*/ 3420239 h 3420239"/>
              <a:gd name="connsiteX2" fmla="*/ 0 w 3526736"/>
              <a:gd name="connsiteY2" fmla="*/ 0 h 3420239"/>
              <a:gd name="connsiteX3" fmla="*/ 3467210 w 3526736"/>
              <a:gd name="connsiteY3" fmla="*/ 0 h 3420239"/>
              <a:gd name="connsiteX4" fmla="*/ 7694 w 3526736"/>
              <a:gd name="connsiteY4" fmla="*/ 3404028 h 3420239"/>
              <a:gd name="connsiteX5" fmla="*/ 7694 w 3526736"/>
              <a:gd name="connsiteY5" fmla="*/ 3416113 h 3420239"/>
              <a:gd name="connsiteX6" fmla="*/ 3526736 w 3526736"/>
              <a:gd name="connsiteY6" fmla="*/ 3416113 h 342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6736" h="3420239">
                <a:moveTo>
                  <a:pt x="3526736" y="3420239"/>
                </a:moveTo>
                <a:lnTo>
                  <a:pt x="0" y="3420239"/>
                </a:lnTo>
                <a:lnTo>
                  <a:pt x="0" y="0"/>
                </a:lnTo>
                <a:lnTo>
                  <a:pt x="3467210" y="0"/>
                </a:lnTo>
                <a:lnTo>
                  <a:pt x="7694" y="3404028"/>
                </a:lnTo>
                <a:lnTo>
                  <a:pt x="7694" y="3416113"/>
                </a:lnTo>
                <a:lnTo>
                  <a:pt x="3526736" y="341611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Network connection abstract against a white background">
            <a:extLst>
              <a:ext uri="{FF2B5EF4-FFF2-40B4-BE49-F238E27FC236}">
                <a16:creationId xmlns:a16="http://schemas.microsoft.com/office/drawing/2014/main" id="{95B6ACB8-9164-2BDF-242C-50ACCDD187FD}"/>
              </a:ext>
            </a:extLst>
          </p:cNvPr>
          <p:cNvPicPr>
            <a:picLocks noChangeAspect="1"/>
          </p:cNvPicPr>
          <p:nvPr/>
        </p:nvPicPr>
        <p:blipFill>
          <a:blip r:embed="rId2"/>
          <a:srcRect t="50971" r="-1" b="-1"/>
          <a:stretch>
            <a:fillRect/>
          </a:stretch>
        </p:blipFill>
        <p:spPr>
          <a:xfrm>
            <a:off x="1" y="-4125"/>
            <a:ext cx="10462125" cy="3423981"/>
          </a:xfrm>
          <a:custGeom>
            <a:avLst/>
            <a:gdLst/>
            <a:ahLst/>
            <a:cxnLst/>
            <a:rect l="l" t="t" r="r" b="b"/>
            <a:pathLst>
              <a:path w="10462125" h="3423981">
                <a:moveTo>
                  <a:pt x="6824" y="0"/>
                </a:moveTo>
                <a:lnTo>
                  <a:pt x="10462125" y="0"/>
                </a:lnTo>
                <a:lnTo>
                  <a:pt x="10462125" y="12085"/>
                </a:lnTo>
                <a:lnTo>
                  <a:pt x="6998417" y="3420238"/>
                </a:lnTo>
                <a:lnTo>
                  <a:pt x="10462125" y="3420238"/>
                </a:lnTo>
                <a:lnTo>
                  <a:pt x="10462125" y="3420239"/>
                </a:lnTo>
                <a:lnTo>
                  <a:pt x="1132764" y="3420239"/>
                </a:lnTo>
                <a:lnTo>
                  <a:pt x="1132764" y="3423981"/>
                </a:lnTo>
                <a:lnTo>
                  <a:pt x="0" y="3423981"/>
                </a:lnTo>
                <a:lnTo>
                  <a:pt x="0" y="4125"/>
                </a:lnTo>
                <a:lnTo>
                  <a:pt x="6824" y="4125"/>
                </a:lnTo>
                <a:close/>
              </a:path>
            </a:pathLst>
          </a:custGeom>
        </p:spPr>
      </p:pic>
      <p:sp>
        <p:nvSpPr>
          <p:cNvPr id="13" name="Rectangle 12">
            <a:extLst>
              <a:ext uri="{FF2B5EF4-FFF2-40B4-BE49-F238E27FC236}">
                <a16:creationId xmlns:a16="http://schemas.microsoft.com/office/drawing/2014/main" id="{697104A3-01F9-4B74-A319-2D54DB3E0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462995" y="-4125"/>
            <a:ext cx="1734065" cy="342023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527CF11-B26B-4BFF-A858-A93A6186E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618590" y="837644"/>
            <a:ext cx="3420241" cy="1736699"/>
          </a:xfrm>
          <a:custGeom>
            <a:avLst/>
            <a:gdLst>
              <a:gd name="connsiteX0" fmla="*/ 3423466 w 3423466"/>
              <a:gd name="connsiteY0" fmla="*/ 0 h 1718483"/>
              <a:gd name="connsiteX1" fmla="*/ 1710280 w 3423466"/>
              <a:gd name="connsiteY1" fmla="*/ 0 h 1718483"/>
              <a:gd name="connsiteX2" fmla="*/ 1710280 w 3423466"/>
              <a:gd name="connsiteY2" fmla="*/ 1 h 1718483"/>
              <a:gd name="connsiteX3" fmla="*/ 0 w 3423466"/>
              <a:gd name="connsiteY3" fmla="*/ 1 h 1718483"/>
              <a:gd name="connsiteX4" fmla="*/ 1538022 w 3423466"/>
              <a:gd name="connsiteY4" fmla="*/ 1709611 h 1718483"/>
              <a:gd name="connsiteX5" fmla="*/ 1710280 w 3423466"/>
              <a:gd name="connsiteY5" fmla="*/ 1718336 h 1718483"/>
              <a:gd name="connsiteX6" fmla="*/ 1710280 w 3423466"/>
              <a:gd name="connsiteY6" fmla="*/ 1718482 h 1718483"/>
              <a:gd name="connsiteX7" fmla="*/ 1711723 w 3423466"/>
              <a:gd name="connsiteY7" fmla="*/ 1718409 h 1718483"/>
              <a:gd name="connsiteX8" fmla="*/ 1713186 w 3423466"/>
              <a:gd name="connsiteY8" fmla="*/ 1718483 h 1718483"/>
              <a:gd name="connsiteX9" fmla="*/ 1713186 w 3423466"/>
              <a:gd name="connsiteY9" fmla="*/ 1718335 h 1718483"/>
              <a:gd name="connsiteX10" fmla="*/ 1885444 w 3423466"/>
              <a:gd name="connsiteY10" fmla="*/ 1709610 h 1718483"/>
              <a:gd name="connsiteX11" fmla="*/ 3423466 w 3423466"/>
              <a:gd name="connsiteY11" fmla="*/ 0 h 1718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3466" h="1718483">
                <a:moveTo>
                  <a:pt x="3423466" y="0"/>
                </a:moveTo>
                <a:lnTo>
                  <a:pt x="1710280" y="0"/>
                </a:lnTo>
                <a:lnTo>
                  <a:pt x="1710280" y="1"/>
                </a:lnTo>
                <a:lnTo>
                  <a:pt x="0" y="1"/>
                </a:lnTo>
                <a:cubicBezTo>
                  <a:pt x="0" y="889774"/>
                  <a:pt x="674138" y="1621607"/>
                  <a:pt x="1538022" y="1709611"/>
                </a:cubicBezTo>
                <a:lnTo>
                  <a:pt x="1710280" y="1718336"/>
                </a:lnTo>
                <a:lnTo>
                  <a:pt x="1710280" y="1718482"/>
                </a:lnTo>
                <a:lnTo>
                  <a:pt x="1711723" y="1718409"/>
                </a:lnTo>
                <a:lnTo>
                  <a:pt x="1713186" y="1718483"/>
                </a:lnTo>
                <a:lnTo>
                  <a:pt x="1713186" y="1718335"/>
                </a:lnTo>
                <a:lnTo>
                  <a:pt x="1885444" y="1709610"/>
                </a:lnTo>
                <a:cubicBezTo>
                  <a:pt x="2749328" y="1621606"/>
                  <a:pt x="3423466" y="889773"/>
                  <a:pt x="3423466"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791717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D8A9A-4939-8676-9FFF-D5ECBB37AF8F}"/>
              </a:ext>
            </a:extLst>
          </p:cNvPr>
          <p:cNvSpPr>
            <a:spLocks noGrp="1"/>
          </p:cNvSpPr>
          <p:nvPr>
            <p:ph type="title"/>
          </p:nvPr>
        </p:nvSpPr>
        <p:spPr>
          <a:xfrm>
            <a:off x="1120948" y="762000"/>
            <a:ext cx="9950103" cy="780010"/>
          </a:xfrm>
        </p:spPr>
        <p:txBody>
          <a:bodyPr/>
          <a:lstStyle/>
          <a:p>
            <a:r>
              <a:rPr lang="en-US" dirty="0"/>
              <a:t>Introduction To The Technology Value Stream</a:t>
            </a:r>
          </a:p>
        </p:txBody>
      </p:sp>
      <p:sp>
        <p:nvSpPr>
          <p:cNvPr id="3" name="Content Placeholder 2">
            <a:extLst>
              <a:ext uri="{FF2B5EF4-FFF2-40B4-BE49-F238E27FC236}">
                <a16:creationId xmlns:a16="http://schemas.microsoft.com/office/drawing/2014/main" id="{FE1B56F3-8018-4CC8-0347-AD3127577A95}"/>
              </a:ext>
            </a:extLst>
          </p:cNvPr>
          <p:cNvSpPr>
            <a:spLocks noGrp="1"/>
          </p:cNvSpPr>
          <p:nvPr>
            <p:ph idx="1"/>
          </p:nvPr>
        </p:nvSpPr>
        <p:spPr>
          <a:xfrm>
            <a:off x="1120948" y="1874866"/>
            <a:ext cx="9950103" cy="4221134"/>
          </a:xfrm>
        </p:spPr>
        <p:txBody>
          <a:bodyPr>
            <a:normAutofit fontScale="92500" lnSpcReduction="20000"/>
          </a:bodyPr>
          <a:lstStyle/>
          <a:p>
            <a:pPr marL="0" indent="0">
              <a:buNone/>
            </a:pPr>
            <a:r>
              <a:rPr lang="en-US" b="1" i="1" dirty="0"/>
              <a:t>What is the technology value stream?</a:t>
            </a:r>
          </a:p>
          <a:p>
            <a:pPr marL="0" indent="0">
              <a:buNone/>
            </a:pPr>
            <a:r>
              <a:rPr lang="en-US" dirty="0"/>
              <a:t>The technology value stream is the start to finish process of transforming a business idea into deployed software. </a:t>
            </a:r>
          </a:p>
          <a:p>
            <a:pPr marL="0" indent="0">
              <a:buNone/>
            </a:pPr>
            <a:r>
              <a:rPr lang="en-US" b="1" i="1" dirty="0"/>
              <a:t>What does it involve?</a:t>
            </a:r>
          </a:p>
          <a:p>
            <a:pPr marL="0" indent="0">
              <a:buNone/>
            </a:pPr>
            <a:r>
              <a:rPr lang="en-US" dirty="0"/>
              <a:t>The technology Value Stream involves mapping all steps of the process necessary to turn the idea into deployed software. These steps often include things like ideation, development, testing, deployment, and monitoring. Having this plan creates a blueprint to allow the process to flow smoother and minimize errors or wasted time and resources.</a:t>
            </a:r>
          </a:p>
          <a:p>
            <a:pPr marL="0" indent="0">
              <a:buNone/>
            </a:pPr>
            <a:r>
              <a:rPr lang="en-US" b="1" i="1" dirty="0"/>
              <a:t>What is the main goal?</a:t>
            </a:r>
          </a:p>
          <a:p>
            <a:pPr marL="0" indent="0">
              <a:buNone/>
            </a:pPr>
            <a:r>
              <a:rPr lang="en-US" dirty="0"/>
              <a:t>The key focus is to accelerate the delivery of the product by planning ahead which minimizes activities and tasks that add no value to the project. This enables faster innovation and customer satisfaction which in turn creates better business outcomes such as higher revenue and market share.</a:t>
            </a:r>
          </a:p>
        </p:txBody>
      </p:sp>
    </p:spTree>
    <p:extLst>
      <p:ext uri="{BB962C8B-B14F-4D97-AF65-F5344CB8AC3E}">
        <p14:creationId xmlns:p14="http://schemas.microsoft.com/office/powerpoint/2010/main" val="191433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7A41D-0B2C-2544-F725-2B843F8C2A41}"/>
              </a:ext>
            </a:extLst>
          </p:cNvPr>
          <p:cNvSpPr>
            <a:spLocks noGrp="1"/>
          </p:cNvSpPr>
          <p:nvPr>
            <p:ph type="title"/>
          </p:nvPr>
        </p:nvSpPr>
        <p:spPr>
          <a:xfrm>
            <a:off x="1077362" y="270510"/>
            <a:ext cx="9950102" cy="646660"/>
          </a:xfrm>
        </p:spPr>
        <p:txBody>
          <a:bodyPr/>
          <a:lstStyle/>
          <a:p>
            <a:pPr algn="ctr"/>
            <a:r>
              <a:rPr lang="en-US" dirty="0"/>
              <a:t>Examples of Value Stream Mapping</a:t>
            </a:r>
          </a:p>
        </p:txBody>
      </p:sp>
      <p:sp>
        <p:nvSpPr>
          <p:cNvPr id="3" name="Content Placeholder 2">
            <a:extLst>
              <a:ext uri="{FF2B5EF4-FFF2-40B4-BE49-F238E27FC236}">
                <a16:creationId xmlns:a16="http://schemas.microsoft.com/office/drawing/2014/main" id="{6B227E91-81A2-33DE-1514-151DEA4C6BAF}"/>
              </a:ext>
            </a:extLst>
          </p:cNvPr>
          <p:cNvSpPr>
            <a:spLocks noGrp="1"/>
          </p:cNvSpPr>
          <p:nvPr>
            <p:ph idx="1"/>
          </p:nvPr>
        </p:nvSpPr>
        <p:spPr>
          <a:xfrm>
            <a:off x="1120948" y="1112866"/>
            <a:ext cx="9950103" cy="1687484"/>
          </a:xfrm>
        </p:spPr>
        <p:txBody>
          <a:bodyPr/>
          <a:lstStyle/>
          <a:p>
            <a:pPr marL="0" indent="0">
              <a:buNone/>
            </a:pPr>
            <a:r>
              <a:rPr lang="en-US" dirty="0"/>
              <a:t>Value Stream Mapping is not a process only used in the tech world, it is also a common way for companies in a variety of lines of business to map out the process of going from the business idea to the delivery to the customer. Below are some examples of Value Stream Mapping for both tech as well as a generic example.</a:t>
            </a:r>
          </a:p>
        </p:txBody>
      </p:sp>
      <p:pic>
        <p:nvPicPr>
          <p:cNvPr id="1026" name="Picture 2" descr="Using development value stream mapping to identify constraints to DevOps  outcomes - AWS Prescriptive Guidance">
            <a:extLst>
              <a:ext uri="{FF2B5EF4-FFF2-40B4-BE49-F238E27FC236}">
                <a16:creationId xmlns:a16="http://schemas.microsoft.com/office/drawing/2014/main" id="{FBC3FEF3-7815-CE08-4104-22F1BBC63C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778" y="2800350"/>
            <a:ext cx="4597109" cy="2881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BD7F1BB-16AD-F961-CC92-2DD70BCDF0D6}"/>
              </a:ext>
            </a:extLst>
          </p:cNvPr>
          <p:cNvSpPr txBox="1"/>
          <p:nvPr/>
        </p:nvSpPr>
        <p:spPr>
          <a:xfrm>
            <a:off x="771778" y="5730891"/>
            <a:ext cx="4244839" cy="1015663"/>
          </a:xfrm>
          <a:prstGeom prst="rect">
            <a:avLst/>
          </a:prstGeom>
          <a:noFill/>
        </p:spPr>
        <p:txBody>
          <a:bodyPr wrap="square" rtlCol="0">
            <a:spAutoFit/>
          </a:bodyPr>
          <a:lstStyle/>
          <a:p>
            <a:pPr algn="ctr"/>
            <a:r>
              <a:rPr lang="en-US" sz="1200" b="1" dirty="0"/>
              <a:t>Example of Tech Value Stream Map</a:t>
            </a:r>
          </a:p>
          <a:p>
            <a:pPr algn="ctr"/>
            <a:r>
              <a:rPr lang="en-US" sz="1200" dirty="0"/>
              <a:t>Retrieved from: </a:t>
            </a:r>
          </a:p>
          <a:p>
            <a:r>
              <a:rPr lang="en-US" sz="1200" dirty="0">
                <a:hlinkClick r:id="rId3"/>
              </a:rPr>
              <a:t>https://docs.aws.amazon.com/prescriptive-guidance/latest/strategy-devops-value-stream-mapping/introduction.html</a:t>
            </a:r>
            <a:endParaRPr lang="en-US" sz="1200" dirty="0"/>
          </a:p>
        </p:txBody>
      </p:sp>
      <p:sp>
        <p:nvSpPr>
          <p:cNvPr id="6" name="TextBox 5">
            <a:extLst>
              <a:ext uri="{FF2B5EF4-FFF2-40B4-BE49-F238E27FC236}">
                <a16:creationId xmlns:a16="http://schemas.microsoft.com/office/drawing/2014/main" id="{6F12CDC0-B535-9CA5-3760-D06F93D26449}"/>
              </a:ext>
            </a:extLst>
          </p:cNvPr>
          <p:cNvSpPr txBox="1"/>
          <p:nvPr/>
        </p:nvSpPr>
        <p:spPr>
          <a:xfrm>
            <a:off x="6438900" y="5816179"/>
            <a:ext cx="4441698" cy="830997"/>
          </a:xfrm>
          <a:prstGeom prst="rect">
            <a:avLst/>
          </a:prstGeom>
          <a:noFill/>
        </p:spPr>
        <p:txBody>
          <a:bodyPr wrap="square" rtlCol="0">
            <a:spAutoFit/>
          </a:bodyPr>
          <a:lstStyle/>
          <a:p>
            <a:pPr algn="ctr"/>
            <a:r>
              <a:rPr lang="en-US" sz="1200" b="1" dirty="0"/>
              <a:t>Example of a Generic Value Stream Map</a:t>
            </a:r>
          </a:p>
          <a:p>
            <a:pPr algn="ctr"/>
            <a:r>
              <a:rPr lang="en-US" sz="1200" dirty="0"/>
              <a:t>Retrieved from:</a:t>
            </a:r>
          </a:p>
          <a:p>
            <a:r>
              <a:rPr lang="en-US" sz="1200" dirty="0">
                <a:hlinkClick r:id="rId4"/>
              </a:rPr>
              <a:t>https://www.purdue.edu/leansixsigmaonline/blog/value-stream-mapping/</a:t>
            </a:r>
            <a:endParaRPr lang="en-US" sz="1200" dirty="0"/>
          </a:p>
        </p:txBody>
      </p:sp>
      <p:pic>
        <p:nvPicPr>
          <p:cNvPr id="7" name="Picture 6">
            <a:extLst>
              <a:ext uri="{FF2B5EF4-FFF2-40B4-BE49-F238E27FC236}">
                <a16:creationId xmlns:a16="http://schemas.microsoft.com/office/drawing/2014/main" id="{799EF2CD-9AB3-2B0E-5445-C09B7EBC910B}"/>
              </a:ext>
            </a:extLst>
          </p:cNvPr>
          <p:cNvPicPr>
            <a:picLocks noChangeAspect="1"/>
          </p:cNvPicPr>
          <p:nvPr/>
        </p:nvPicPr>
        <p:blipFill>
          <a:blip r:embed="rId5"/>
          <a:stretch>
            <a:fillRect/>
          </a:stretch>
        </p:blipFill>
        <p:spPr>
          <a:xfrm>
            <a:off x="6506225" y="2800350"/>
            <a:ext cx="4269161" cy="2944784"/>
          </a:xfrm>
          <a:prstGeom prst="rect">
            <a:avLst/>
          </a:prstGeom>
        </p:spPr>
      </p:pic>
    </p:spTree>
    <p:extLst>
      <p:ext uri="{BB962C8B-B14F-4D97-AF65-F5344CB8AC3E}">
        <p14:creationId xmlns:p14="http://schemas.microsoft.com/office/powerpoint/2010/main" val="467908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BDA7-6354-A7BB-FB5C-A87A2521FF47}"/>
              </a:ext>
            </a:extLst>
          </p:cNvPr>
          <p:cNvSpPr>
            <a:spLocks noGrp="1"/>
          </p:cNvSpPr>
          <p:nvPr>
            <p:ph type="title"/>
          </p:nvPr>
        </p:nvSpPr>
        <p:spPr>
          <a:xfrm>
            <a:off x="1077362" y="419100"/>
            <a:ext cx="9950103" cy="665710"/>
          </a:xfrm>
        </p:spPr>
        <p:txBody>
          <a:bodyPr/>
          <a:lstStyle/>
          <a:p>
            <a:pPr algn="ctr"/>
            <a:r>
              <a:rPr lang="en-US" dirty="0"/>
              <a:t>Defining Lead Time vs. Processing Time</a:t>
            </a:r>
          </a:p>
        </p:txBody>
      </p:sp>
      <p:sp>
        <p:nvSpPr>
          <p:cNvPr id="3" name="Content Placeholder 2">
            <a:extLst>
              <a:ext uri="{FF2B5EF4-FFF2-40B4-BE49-F238E27FC236}">
                <a16:creationId xmlns:a16="http://schemas.microsoft.com/office/drawing/2014/main" id="{BD4B2F18-5084-66F9-BE69-EFF492564B1C}"/>
              </a:ext>
            </a:extLst>
          </p:cNvPr>
          <p:cNvSpPr>
            <a:spLocks noGrp="1"/>
          </p:cNvSpPr>
          <p:nvPr>
            <p:ph idx="1"/>
          </p:nvPr>
        </p:nvSpPr>
        <p:spPr>
          <a:xfrm>
            <a:off x="1077362" y="1379566"/>
            <a:ext cx="9950103" cy="4697384"/>
          </a:xfrm>
        </p:spPr>
        <p:txBody>
          <a:bodyPr>
            <a:normAutofit fontScale="85000" lnSpcReduction="20000"/>
          </a:bodyPr>
          <a:lstStyle/>
          <a:p>
            <a:pPr marL="0" indent="0">
              <a:buNone/>
            </a:pPr>
            <a:r>
              <a:rPr lang="en-US" b="1" i="1" dirty="0"/>
              <a:t>What is Lead Time? </a:t>
            </a:r>
          </a:p>
          <a:p>
            <a:pPr marL="0" indent="0">
              <a:buNone/>
            </a:pPr>
            <a:r>
              <a:rPr lang="en-US" dirty="0"/>
              <a:t>Lead time is the total elapsed time from when a customer request is received or an idea is initiated until the time that the product is delivered or deployed. This time includes everything involved in the product including wait time, handoffs, and other non-value adding time. </a:t>
            </a:r>
          </a:p>
          <a:p>
            <a:pPr marL="0" indent="0">
              <a:buNone/>
            </a:pPr>
            <a:r>
              <a:rPr lang="en-US" b="1" i="1" dirty="0"/>
              <a:t>What is Processing Time?</a:t>
            </a:r>
          </a:p>
          <a:p>
            <a:pPr marL="0" indent="0">
              <a:buNone/>
            </a:pPr>
            <a:r>
              <a:rPr lang="en-US" dirty="0"/>
              <a:t>Processing time is the actual time spent actively working on the project. This includes things such as coding, testing, reviewing, etc. This does not include wait time or non-value adding time.</a:t>
            </a:r>
          </a:p>
          <a:p>
            <a:pPr marL="0" indent="0">
              <a:buNone/>
            </a:pPr>
            <a:r>
              <a:rPr lang="en-US" b="1" i="1" dirty="0"/>
              <a:t>Key Difference</a:t>
            </a:r>
          </a:p>
          <a:p>
            <a:pPr marL="0" indent="0">
              <a:buNone/>
            </a:pPr>
            <a:r>
              <a:rPr lang="en-US" dirty="0"/>
              <a:t>Lead Time = Processing Time + Wait Time. In software DevOps, long Lead Times cause delays to feedback groups and the project overall whereas short Processing Times indicate efficient work.</a:t>
            </a:r>
          </a:p>
          <a:p>
            <a:pPr marL="0" indent="0">
              <a:buNone/>
            </a:pPr>
            <a:r>
              <a:rPr lang="en-US" b="1" i="1" dirty="0"/>
              <a:t>Why Differentiate Them?</a:t>
            </a:r>
          </a:p>
          <a:p>
            <a:pPr marL="0" indent="0">
              <a:buNone/>
            </a:pPr>
            <a:r>
              <a:rPr lang="en-US" dirty="0"/>
              <a:t>By separating the time spent on a project between Lead Time and Processing Time you are able to identify wasted or non-value time which in turn will allow you to address it and work on reducing it. By doing this, you will improve agility. For example, in value stream mapping, lead time might be weeks where processing time is only days. By differentiating the two you can plan better as well as work on reducing non-value time and lead time overall.</a:t>
            </a:r>
          </a:p>
        </p:txBody>
      </p:sp>
    </p:spTree>
    <p:extLst>
      <p:ext uri="{BB962C8B-B14F-4D97-AF65-F5344CB8AC3E}">
        <p14:creationId xmlns:p14="http://schemas.microsoft.com/office/powerpoint/2010/main" val="3188593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F9E9F-B593-94B7-A150-62D2F9B96918}"/>
              </a:ext>
            </a:extLst>
          </p:cNvPr>
          <p:cNvSpPr>
            <a:spLocks noGrp="1"/>
          </p:cNvSpPr>
          <p:nvPr>
            <p:ph type="title"/>
          </p:nvPr>
        </p:nvSpPr>
        <p:spPr>
          <a:xfrm>
            <a:off x="1077361" y="264274"/>
            <a:ext cx="9950103" cy="652896"/>
          </a:xfrm>
        </p:spPr>
        <p:txBody>
          <a:bodyPr/>
          <a:lstStyle/>
          <a:p>
            <a:pPr algn="ctr"/>
            <a:r>
              <a:rPr lang="en-US" dirty="0"/>
              <a:t>Lead Time vs Processing Time</a:t>
            </a:r>
          </a:p>
        </p:txBody>
      </p:sp>
      <p:sp>
        <p:nvSpPr>
          <p:cNvPr id="3" name="Content Placeholder 2">
            <a:extLst>
              <a:ext uri="{FF2B5EF4-FFF2-40B4-BE49-F238E27FC236}">
                <a16:creationId xmlns:a16="http://schemas.microsoft.com/office/drawing/2014/main" id="{02728B98-2108-BD8F-BBE7-5C1439B6DEB3}"/>
              </a:ext>
            </a:extLst>
          </p:cNvPr>
          <p:cNvSpPr>
            <a:spLocks noGrp="1"/>
          </p:cNvSpPr>
          <p:nvPr>
            <p:ph idx="1"/>
          </p:nvPr>
        </p:nvSpPr>
        <p:spPr>
          <a:xfrm>
            <a:off x="1120948" y="4122766"/>
            <a:ext cx="9950103" cy="2201834"/>
          </a:xfrm>
        </p:spPr>
        <p:txBody>
          <a:bodyPr/>
          <a:lstStyle/>
          <a:p>
            <a:pPr marL="0" indent="0">
              <a:buNone/>
            </a:pPr>
            <a:r>
              <a:rPr lang="en-US" dirty="0"/>
              <a:t>This image simply outlines the difference between Lead Time and Process time and also shows “Cycle Time” which is time that does not include wait time but does include non-value time. This diagram is a simple and easy to understand timeline to show how the different types of time are categorized</a:t>
            </a:r>
          </a:p>
          <a:p>
            <a:pPr marL="0" indent="0">
              <a:buNone/>
            </a:pPr>
            <a:r>
              <a:rPr lang="en-US" dirty="0"/>
              <a:t>Retrieved from: </a:t>
            </a:r>
            <a:r>
              <a:rPr lang="en-US" dirty="0">
                <a:hlinkClick r:id="rId2"/>
              </a:rPr>
              <a:t>https://www.kaufmanglobal.com/glossary/lead-time/</a:t>
            </a:r>
            <a:endParaRPr lang="en-US" dirty="0"/>
          </a:p>
        </p:txBody>
      </p:sp>
      <p:pic>
        <p:nvPicPr>
          <p:cNvPr id="2050" name="Picture 2" descr="Lead Time, Cycle Time, Process Time Illustration">
            <a:extLst>
              <a:ext uri="{FF2B5EF4-FFF2-40B4-BE49-F238E27FC236}">
                <a16:creationId xmlns:a16="http://schemas.microsoft.com/office/drawing/2014/main" id="{2FD593DE-4820-8DC1-3CCF-BD8D7E043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9037" y="1652993"/>
            <a:ext cx="8286750" cy="2164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111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16EA-CF37-7877-F612-0E0F0FBD5E51}"/>
              </a:ext>
            </a:extLst>
          </p:cNvPr>
          <p:cNvSpPr>
            <a:spLocks noGrp="1"/>
          </p:cNvSpPr>
          <p:nvPr>
            <p:ph type="title"/>
          </p:nvPr>
        </p:nvSpPr>
        <p:spPr>
          <a:xfrm>
            <a:off x="1120948" y="301334"/>
            <a:ext cx="9950103" cy="1507376"/>
          </a:xfrm>
        </p:spPr>
        <p:txBody>
          <a:bodyPr/>
          <a:lstStyle/>
          <a:p>
            <a:pPr algn="ctr"/>
            <a:r>
              <a:rPr lang="en-US" dirty="0"/>
              <a:t>The Common Scenario: Deployment Lead Times Requiring Months</a:t>
            </a:r>
          </a:p>
        </p:txBody>
      </p:sp>
      <p:sp>
        <p:nvSpPr>
          <p:cNvPr id="3" name="Content Placeholder 2">
            <a:extLst>
              <a:ext uri="{FF2B5EF4-FFF2-40B4-BE49-F238E27FC236}">
                <a16:creationId xmlns:a16="http://schemas.microsoft.com/office/drawing/2014/main" id="{ACD24530-AEE9-B83F-DB8B-E6B146AF7197}"/>
              </a:ext>
            </a:extLst>
          </p:cNvPr>
          <p:cNvSpPr>
            <a:spLocks noGrp="1"/>
          </p:cNvSpPr>
          <p:nvPr>
            <p:ph idx="1"/>
          </p:nvPr>
        </p:nvSpPr>
        <p:spPr>
          <a:xfrm>
            <a:off x="1120948" y="1961110"/>
            <a:ext cx="9950103" cy="3513514"/>
          </a:xfrm>
        </p:spPr>
        <p:txBody>
          <a:bodyPr>
            <a:normAutofit lnSpcReduction="10000"/>
          </a:bodyPr>
          <a:lstStyle/>
          <a:p>
            <a:pPr marL="0" indent="0">
              <a:buNone/>
            </a:pPr>
            <a:r>
              <a:rPr lang="en-US" dirty="0"/>
              <a:t>In traditional (non-DevOps) IT environments, deployment lead times often span months due to things such as siloed teams, manual processes, and large batch releases. These are often found in large, complex organizations.</a:t>
            </a:r>
          </a:p>
          <a:p>
            <a:pPr marL="0" indent="0">
              <a:buNone/>
            </a:pPr>
            <a:r>
              <a:rPr lang="en-US" b="1" i="1" dirty="0"/>
              <a:t>What Causes This?</a:t>
            </a:r>
          </a:p>
          <a:p>
            <a:pPr marL="0" indent="0">
              <a:buNone/>
            </a:pPr>
            <a:r>
              <a:rPr lang="en-US" dirty="0"/>
              <a:t>This is caused by extensive manual testing, lengthy approval cycles, difficult integration from infrequent merges, and risk-averse deployments. </a:t>
            </a:r>
          </a:p>
          <a:p>
            <a:pPr marL="0" indent="0">
              <a:buNone/>
            </a:pPr>
            <a:r>
              <a:rPr lang="en-US" b="1" i="1" dirty="0"/>
              <a:t>What are the Consequences of This?</a:t>
            </a:r>
          </a:p>
          <a:p>
            <a:pPr marL="0" indent="0">
              <a:buNone/>
            </a:pPr>
            <a:r>
              <a:rPr lang="en-US" dirty="0"/>
              <a:t>Higher change failure rates, delayed processes and customer value, ”heroic” lengthy fixes required for everything, infrequent deployments, competitive disadvantages.</a:t>
            </a:r>
          </a:p>
        </p:txBody>
      </p:sp>
    </p:spTree>
    <p:extLst>
      <p:ext uri="{BB962C8B-B14F-4D97-AF65-F5344CB8AC3E}">
        <p14:creationId xmlns:p14="http://schemas.microsoft.com/office/powerpoint/2010/main" val="1563671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89C38-B508-C6C2-5F1A-8AEC33EAF6E7}"/>
              </a:ext>
            </a:extLst>
          </p:cNvPr>
          <p:cNvSpPr>
            <a:spLocks noGrp="1"/>
          </p:cNvSpPr>
          <p:nvPr>
            <p:ph type="title"/>
          </p:nvPr>
        </p:nvSpPr>
        <p:spPr>
          <a:xfrm>
            <a:off x="1077361" y="163482"/>
            <a:ext cx="9950103" cy="1507376"/>
          </a:xfrm>
        </p:spPr>
        <p:txBody>
          <a:bodyPr/>
          <a:lstStyle/>
          <a:p>
            <a:pPr algn="ctr"/>
            <a:r>
              <a:rPr lang="en-US" dirty="0"/>
              <a:t>The DevOps Ideal: Deployment Lead Times of Minutes</a:t>
            </a:r>
          </a:p>
        </p:txBody>
      </p:sp>
      <p:sp>
        <p:nvSpPr>
          <p:cNvPr id="3" name="Content Placeholder 2">
            <a:extLst>
              <a:ext uri="{FF2B5EF4-FFF2-40B4-BE49-F238E27FC236}">
                <a16:creationId xmlns:a16="http://schemas.microsoft.com/office/drawing/2014/main" id="{FB7DC4FB-6D08-97C1-669F-074C1317AC81}"/>
              </a:ext>
            </a:extLst>
          </p:cNvPr>
          <p:cNvSpPr>
            <a:spLocks noGrp="1"/>
          </p:cNvSpPr>
          <p:nvPr>
            <p:ph idx="1"/>
          </p:nvPr>
        </p:nvSpPr>
        <p:spPr/>
        <p:txBody>
          <a:bodyPr>
            <a:normAutofit fontScale="92500" lnSpcReduction="20000"/>
          </a:bodyPr>
          <a:lstStyle/>
          <a:p>
            <a:pPr marL="0" indent="0">
              <a:buNone/>
            </a:pPr>
            <a:r>
              <a:rPr lang="en-US" dirty="0"/>
              <a:t>Through the DevOps ideal lead times are achieved within minutes through checking small code changes into the version control repository, automated and exploratory testing, and deploying to production as soon as possible. This allows for things to be rolled out much faster and for the developers to receive fast, constant feedback. </a:t>
            </a:r>
          </a:p>
          <a:p>
            <a:pPr marL="0" indent="0">
              <a:buNone/>
            </a:pPr>
            <a:r>
              <a:rPr lang="en-US" dirty="0"/>
              <a:t>What Are the Benefits?</a:t>
            </a:r>
          </a:p>
          <a:p>
            <a:pPr marL="0" indent="0">
              <a:buNone/>
            </a:pPr>
            <a:r>
              <a:rPr lang="en-US" dirty="0"/>
              <a:t>Frequent deployments (sometimes multiple per day), rapid feedback, and lower risk, faster recovery times.</a:t>
            </a:r>
          </a:p>
          <a:p>
            <a:pPr marL="0" indent="0">
              <a:buNone/>
            </a:pPr>
            <a:r>
              <a:rPr lang="en-US" dirty="0"/>
              <a:t>How is This Achieved?</a:t>
            </a:r>
          </a:p>
          <a:p>
            <a:pPr marL="0" indent="0">
              <a:buNone/>
            </a:pPr>
            <a:r>
              <a:rPr lang="en-US" dirty="0"/>
              <a:t>This is achieved mostly when the architecture is modular, well encapsulated, and loosely coupled which allows small teams to work with a lot of automated processes and achieve minimal errors that are easy to handle and fix.</a:t>
            </a:r>
          </a:p>
        </p:txBody>
      </p:sp>
    </p:spTree>
    <p:extLst>
      <p:ext uri="{BB962C8B-B14F-4D97-AF65-F5344CB8AC3E}">
        <p14:creationId xmlns:p14="http://schemas.microsoft.com/office/powerpoint/2010/main" val="1517647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EBC7-4904-85B0-3C53-E12105DA9374}"/>
              </a:ext>
            </a:extLst>
          </p:cNvPr>
          <p:cNvSpPr>
            <a:spLocks noGrp="1"/>
          </p:cNvSpPr>
          <p:nvPr>
            <p:ph type="title"/>
          </p:nvPr>
        </p:nvSpPr>
        <p:spPr>
          <a:xfrm>
            <a:off x="910156" y="419100"/>
            <a:ext cx="10371688" cy="722860"/>
          </a:xfrm>
        </p:spPr>
        <p:txBody>
          <a:bodyPr/>
          <a:lstStyle/>
          <a:p>
            <a:r>
              <a:rPr lang="en-US" dirty="0"/>
              <a:t>DevOps Ideal vs Common Scenario Value Streams</a:t>
            </a:r>
          </a:p>
        </p:txBody>
      </p:sp>
      <p:pic>
        <p:nvPicPr>
          <p:cNvPr id="7" name="Picture 6">
            <a:extLst>
              <a:ext uri="{FF2B5EF4-FFF2-40B4-BE49-F238E27FC236}">
                <a16:creationId xmlns:a16="http://schemas.microsoft.com/office/drawing/2014/main" id="{5BB0E9E0-5FAC-1020-6BC6-107EAB9A7FAD}"/>
              </a:ext>
            </a:extLst>
          </p:cNvPr>
          <p:cNvPicPr>
            <a:picLocks noChangeAspect="1"/>
          </p:cNvPicPr>
          <p:nvPr/>
        </p:nvPicPr>
        <p:blipFill>
          <a:blip r:embed="rId2"/>
          <a:stretch>
            <a:fillRect/>
          </a:stretch>
        </p:blipFill>
        <p:spPr>
          <a:xfrm>
            <a:off x="323850" y="1485452"/>
            <a:ext cx="5962650" cy="1843342"/>
          </a:xfrm>
          <a:prstGeom prst="rect">
            <a:avLst/>
          </a:prstGeom>
        </p:spPr>
      </p:pic>
      <p:pic>
        <p:nvPicPr>
          <p:cNvPr id="8" name="Picture 7">
            <a:extLst>
              <a:ext uri="{FF2B5EF4-FFF2-40B4-BE49-F238E27FC236}">
                <a16:creationId xmlns:a16="http://schemas.microsoft.com/office/drawing/2014/main" id="{964F5029-4696-03D1-75E7-6EC732BF9E04}"/>
              </a:ext>
            </a:extLst>
          </p:cNvPr>
          <p:cNvPicPr>
            <a:picLocks noChangeAspect="1"/>
          </p:cNvPicPr>
          <p:nvPr/>
        </p:nvPicPr>
        <p:blipFill>
          <a:blip r:embed="rId3"/>
          <a:stretch>
            <a:fillRect/>
          </a:stretch>
        </p:blipFill>
        <p:spPr>
          <a:xfrm>
            <a:off x="323850" y="4122426"/>
            <a:ext cx="5962650" cy="1902772"/>
          </a:xfrm>
          <a:prstGeom prst="rect">
            <a:avLst/>
          </a:prstGeom>
        </p:spPr>
      </p:pic>
      <p:sp>
        <p:nvSpPr>
          <p:cNvPr id="9" name="TextBox 8">
            <a:extLst>
              <a:ext uri="{FF2B5EF4-FFF2-40B4-BE49-F238E27FC236}">
                <a16:creationId xmlns:a16="http://schemas.microsoft.com/office/drawing/2014/main" id="{17C80AB1-96FC-ED6B-D454-F48979ABBD49}"/>
              </a:ext>
            </a:extLst>
          </p:cNvPr>
          <p:cNvSpPr txBox="1"/>
          <p:nvPr/>
        </p:nvSpPr>
        <p:spPr>
          <a:xfrm>
            <a:off x="7162800" y="4265638"/>
            <a:ext cx="4629150" cy="1477328"/>
          </a:xfrm>
          <a:prstGeom prst="rect">
            <a:avLst/>
          </a:prstGeom>
          <a:noFill/>
        </p:spPr>
        <p:txBody>
          <a:bodyPr wrap="square" rtlCol="0">
            <a:spAutoFit/>
          </a:bodyPr>
          <a:lstStyle/>
          <a:p>
            <a:r>
              <a:rPr lang="en-US" dirty="0"/>
              <a:t>Figure 2: This is a value stream showing the how simple and easy the DevOps Ideal is. Just by comparing the two images you can see how much simpler and faster the DevOps ideal method is.</a:t>
            </a:r>
          </a:p>
        </p:txBody>
      </p:sp>
      <p:sp>
        <p:nvSpPr>
          <p:cNvPr id="10" name="TextBox 9">
            <a:extLst>
              <a:ext uri="{FF2B5EF4-FFF2-40B4-BE49-F238E27FC236}">
                <a16:creationId xmlns:a16="http://schemas.microsoft.com/office/drawing/2014/main" id="{24C8976D-B95D-FF1D-9A44-1583A48839E5}"/>
              </a:ext>
            </a:extLst>
          </p:cNvPr>
          <p:cNvSpPr txBox="1"/>
          <p:nvPr/>
        </p:nvSpPr>
        <p:spPr>
          <a:xfrm>
            <a:off x="7162800" y="1738058"/>
            <a:ext cx="4629150" cy="1477328"/>
          </a:xfrm>
          <a:prstGeom prst="rect">
            <a:avLst/>
          </a:prstGeom>
          <a:noFill/>
        </p:spPr>
        <p:txBody>
          <a:bodyPr wrap="square" rtlCol="0">
            <a:spAutoFit/>
          </a:bodyPr>
          <a:lstStyle/>
          <a:p>
            <a:r>
              <a:rPr lang="en-US" dirty="0"/>
              <a:t>Figure 1: This is a value stream showing the complex nature of the common scenario. You can see just from the planning how this can cause major confusion and issues when done this way. </a:t>
            </a:r>
          </a:p>
        </p:txBody>
      </p:sp>
      <p:sp>
        <p:nvSpPr>
          <p:cNvPr id="11" name="TextBox 10">
            <a:extLst>
              <a:ext uri="{FF2B5EF4-FFF2-40B4-BE49-F238E27FC236}">
                <a16:creationId xmlns:a16="http://schemas.microsoft.com/office/drawing/2014/main" id="{D095D063-BF75-7416-1290-77E78586F571}"/>
              </a:ext>
            </a:extLst>
          </p:cNvPr>
          <p:cNvSpPr txBox="1"/>
          <p:nvPr/>
        </p:nvSpPr>
        <p:spPr>
          <a:xfrm>
            <a:off x="1476375" y="3379898"/>
            <a:ext cx="3657600" cy="584775"/>
          </a:xfrm>
          <a:prstGeom prst="rect">
            <a:avLst/>
          </a:prstGeom>
          <a:noFill/>
        </p:spPr>
        <p:txBody>
          <a:bodyPr wrap="square" rtlCol="0">
            <a:spAutoFit/>
          </a:bodyPr>
          <a:lstStyle/>
          <a:p>
            <a:pPr algn="ctr"/>
            <a:r>
              <a:rPr lang="en-US" sz="1600" dirty="0"/>
              <a:t>Figure 1: Retrieved from page 10 of the DevOps Handbook by Gene Kim</a:t>
            </a:r>
          </a:p>
        </p:txBody>
      </p:sp>
      <p:sp>
        <p:nvSpPr>
          <p:cNvPr id="12" name="TextBox 11">
            <a:extLst>
              <a:ext uri="{FF2B5EF4-FFF2-40B4-BE49-F238E27FC236}">
                <a16:creationId xmlns:a16="http://schemas.microsoft.com/office/drawing/2014/main" id="{B30ADFA1-A532-F1F5-64BF-CE0EA9276D50}"/>
              </a:ext>
            </a:extLst>
          </p:cNvPr>
          <p:cNvSpPr txBox="1"/>
          <p:nvPr/>
        </p:nvSpPr>
        <p:spPr>
          <a:xfrm>
            <a:off x="1476375" y="6146512"/>
            <a:ext cx="3657600" cy="584775"/>
          </a:xfrm>
          <a:prstGeom prst="rect">
            <a:avLst/>
          </a:prstGeom>
          <a:noFill/>
        </p:spPr>
        <p:txBody>
          <a:bodyPr wrap="square" rtlCol="0">
            <a:spAutoFit/>
          </a:bodyPr>
          <a:lstStyle/>
          <a:p>
            <a:pPr algn="ctr"/>
            <a:r>
              <a:rPr lang="en-US" sz="1600" dirty="0"/>
              <a:t>Figure 2: Retrieved from page 10 of the DevOps Handbook by Gene Kim</a:t>
            </a:r>
          </a:p>
        </p:txBody>
      </p:sp>
    </p:spTree>
    <p:extLst>
      <p:ext uri="{BB962C8B-B14F-4D97-AF65-F5344CB8AC3E}">
        <p14:creationId xmlns:p14="http://schemas.microsoft.com/office/powerpoint/2010/main" val="2642844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8A57C-7513-5FF7-6605-8CBBCBD16CAB}"/>
              </a:ext>
            </a:extLst>
          </p:cNvPr>
          <p:cNvSpPr>
            <a:spLocks noGrp="1"/>
          </p:cNvSpPr>
          <p:nvPr>
            <p:ph type="title"/>
          </p:nvPr>
        </p:nvSpPr>
        <p:spPr/>
        <p:txBody>
          <a:bodyPr/>
          <a:lstStyle/>
          <a:p>
            <a:pPr algn="ctr"/>
            <a:r>
              <a:rPr lang="en-US" dirty="0"/>
              <a:t>Common Scenario vs DevOps Ideal Comparison Chart</a:t>
            </a:r>
          </a:p>
        </p:txBody>
      </p:sp>
      <p:graphicFrame>
        <p:nvGraphicFramePr>
          <p:cNvPr id="6" name="Table 5">
            <a:extLst>
              <a:ext uri="{FF2B5EF4-FFF2-40B4-BE49-F238E27FC236}">
                <a16:creationId xmlns:a16="http://schemas.microsoft.com/office/drawing/2014/main" id="{6DA2A8F2-0EEA-AD95-860C-25EDD6FE5202}"/>
              </a:ext>
            </a:extLst>
          </p:cNvPr>
          <p:cNvGraphicFramePr>
            <a:graphicFrameLocks noGrp="1"/>
          </p:cNvGraphicFramePr>
          <p:nvPr>
            <p:extLst>
              <p:ext uri="{D42A27DB-BD31-4B8C-83A1-F6EECF244321}">
                <p14:modId xmlns:p14="http://schemas.microsoft.com/office/powerpoint/2010/main" val="1269974166"/>
              </p:ext>
            </p:extLst>
          </p:nvPr>
        </p:nvGraphicFramePr>
        <p:xfrm>
          <a:off x="1403350" y="2742160"/>
          <a:ext cx="9759951" cy="2475115"/>
        </p:xfrm>
        <a:graphic>
          <a:graphicData uri="http://schemas.openxmlformats.org/drawingml/2006/table">
            <a:tbl>
              <a:tblPr firstRow="1" bandRow="1">
                <a:tableStyleId>{5C22544A-7EE6-4342-B048-85BDC9FD1C3A}</a:tableStyleId>
              </a:tblPr>
              <a:tblGrid>
                <a:gridCol w="3253317">
                  <a:extLst>
                    <a:ext uri="{9D8B030D-6E8A-4147-A177-3AD203B41FA5}">
                      <a16:colId xmlns:a16="http://schemas.microsoft.com/office/drawing/2014/main" val="1413108642"/>
                    </a:ext>
                  </a:extLst>
                </a:gridCol>
                <a:gridCol w="3253317">
                  <a:extLst>
                    <a:ext uri="{9D8B030D-6E8A-4147-A177-3AD203B41FA5}">
                      <a16:colId xmlns:a16="http://schemas.microsoft.com/office/drawing/2014/main" val="17256715"/>
                    </a:ext>
                  </a:extLst>
                </a:gridCol>
                <a:gridCol w="3253317">
                  <a:extLst>
                    <a:ext uri="{9D8B030D-6E8A-4147-A177-3AD203B41FA5}">
                      <a16:colId xmlns:a16="http://schemas.microsoft.com/office/drawing/2014/main" val="2894388770"/>
                    </a:ext>
                  </a:extLst>
                </a:gridCol>
              </a:tblGrid>
              <a:tr h="495023">
                <a:tc>
                  <a:txBody>
                    <a:bodyPr/>
                    <a:lstStyle/>
                    <a:p>
                      <a:pPr algn="ctr"/>
                      <a:r>
                        <a:rPr lang="en-US" b="1" dirty="0"/>
                        <a:t>Aspect</a:t>
                      </a:r>
                    </a:p>
                  </a:txBody>
                  <a:tcPr/>
                </a:tc>
                <a:tc>
                  <a:txBody>
                    <a:bodyPr/>
                    <a:lstStyle/>
                    <a:p>
                      <a:pPr algn="ctr"/>
                      <a:r>
                        <a:rPr lang="en-US" dirty="0"/>
                        <a:t>Common Scenario (Months)</a:t>
                      </a:r>
                    </a:p>
                  </a:txBody>
                  <a:tcPr/>
                </a:tc>
                <a:tc>
                  <a:txBody>
                    <a:bodyPr/>
                    <a:lstStyle/>
                    <a:p>
                      <a:pPr algn="ctr"/>
                      <a:r>
                        <a:rPr lang="en-US" dirty="0"/>
                        <a:t>DevOps Ideal (Minutes)</a:t>
                      </a:r>
                    </a:p>
                  </a:txBody>
                  <a:tcPr/>
                </a:tc>
                <a:extLst>
                  <a:ext uri="{0D108BD9-81ED-4DB2-BD59-A6C34878D82A}">
                    <a16:rowId xmlns:a16="http://schemas.microsoft.com/office/drawing/2014/main" val="981758578"/>
                  </a:ext>
                </a:extLst>
              </a:tr>
              <a:tr h="495023">
                <a:tc>
                  <a:txBody>
                    <a:bodyPr/>
                    <a:lstStyle/>
                    <a:p>
                      <a:r>
                        <a:rPr lang="en-US" dirty="0"/>
                        <a:t>Deployment Frequency</a:t>
                      </a:r>
                    </a:p>
                  </a:txBody>
                  <a:tcPr/>
                </a:tc>
                <a:tc>
                  <a:txBody>
                    <a:bodyPr/>
                    <a:lstStyle/>
                    <a:p>
                      <a:r>
                        <a:rPr lang="en-US" dirty="0"/>
                        <a:t>Monthly/Quarterly</a:t>
                      </a:r>
                    </a:p>
                  </a:txBody>
                  <a:tcPr/>
                </a:tc>
                <a:tc>
                  <a:txBody>
                    <a:bodyPr/>
                    <a:lstStyle/>
                    <a:p>
                      <a:r>
                        <a:rPr lang="en-US" dirty="0"/>
                        <a:t>Multiple per day</a:t>
                      </a:r>
                    </a:p>
                  </a:txBody>
                  <a:tcPr/>
                </a:tc>
                <a:extLst>
                  <a:ext uri="{0D108BD9-81ED-4DB2-BD59-A6C34878D82A}">
                    <a16:rowId xmlns:a16="http://schemas.microsoft.com/office/drawing/2014/main" val="3954290463"/>
                  </a:ext>
                </a:extLst>
              </a:tr>
              <a:tr h="495023">
                <a:tc>
                  <a:txBody>
                    <a:bodyPr/>
                    <a:lstStyle/>
                    <a:p>
                      <a:r>
                        <a:rPr lang="en-US" dirty="0"/>
                        <a:t>Lead Time</a:t>
                      </a:r>
                    </a:p>
                  </a:txBody>
                  <a:tcPr/>
                </a:tc>
                <a:tc>
                  <a:txBody>
                    <a:bodyPr/>
                    <a:lstStyle/>
                    <a:p>
                      <a:r>
                        <a:rPr lang="en-US" dirty="0"/>
                        <a:t>Weeks/Months (high waste)</a:t>
                      </a:r>
                    </a:p>
                  </a:txBody>
                  <a:tcPr/>
                </a:tc>
                <a:tc>
                  <a:txBody>
                    <a:bodyPr/>
                    <a:lstStyle/>
                    <a:p>
                      <a:r>
                        <a:rPr lang="en-US" dirty="0"/>
                        <a:t>&lt;1 hour (efficient flow)</a:t>
                      </a:r>
                    </a:p>
                  </a:txBody>
                  <a:tcPr/>
                </a:tc>
                <a:extLst>
                  <a:ext uri="{0D108BD9-81ED-4DB2-BD59-A6C34878D82A}">
                    <a16:rowId xmlns:a16="http://schemas.microsoft.com/office/drawing/2014/main" val="1330116997"/>
                  </a:ext>
                </a:extLst>
              </a:tr>
              <a:tr h="495023">
                <a:tc>
                  <a:txBody>
                    <a:bodyPr/>
                    <a:lstStyle/>
                    <a:p>
                      <a:r>
                        <a:rPr lang="en-US" dirty="0"/>
                        <a:t>Risk &amp; Failure</a:t>
                      </a:r>
                    </a:p>
                  </a:txBody>
                  <a:tcPr/>
                </a:tc>
                <a:tc>
                  <a:txBody>
                    <a:bodyPr/>
                    <a:lstStyle/>
                    <a:p>
                      <a:r>
                        <a:rPr lang="en-US" dirty="0"/>
                        <a:t>High (large batches)</a:t>
                      </a:r>
                    </a:p>
                  </a:txBody>
                  <a:tcPr/>
                </a:tc>
                <a:tc>
                  <a:txBody>
                    <a:bodyPr/>
                    <a:lstStyle/>
                    <a:p>
                      <a:r>
                        <a:rPr lang="en-US" dirty="0"/>
                        <a:t>Low (small changes)</a:t>
                      </a:r>
                    </a:p>
                  </a:txBody>
                  <a:tcPr/>
                </a:tc>
                <a:extLst>
                  <a:ext uri="{0D108BD9-81ED-4DB2-BD59-A6C34878D82A}">
                    <a16:rowId xmlns:a16="http://schemas.microsoft.com/office/drawing/2014/main" val="2825857447"/>
                  </a:ext>
                </a:extLst>
              </a:tr>
              <a:tr h="495023">
                <a:tc>
                  <a:txBody>
                    <a:bodyPr/>
                    <a:lstStyle/>
                    <a:p>
                      <a:r>
                        <a:rPr lang="en-US" dirty="0"/>
                        <a:t>Benefits</a:t>
                      </a:r>
                    </a:p>
                  </a:txBody>
                  <a:tcPr/>
                </a:tc>
                <a:tc>
                  <a:txBody>
                    <a:bodyPr/>
                    <a:lstStyle/>
                    <a:p>
                      <a:r>
                        <a:rPr lang="en-US" dirty="0"/>
                        <a:t>Slow feedback, high cost</a:t>
                      </a:r>
                    </a:p>
                  </a:txBody>
                  <a:tcPr/>
                </a:tc>
                <a:tc>
                  <a:txBody>
                    <a:bodyPr/>
                    <a:lstStyle/>
                    <a:p>
                      <a:r>
                        <a:rPr lang="en-US" dirty="0"/>
                        <a:t>Fast value, agility</a:t>
                      </a:r>
                    </a:p>
                  </a:txBody>
                  <a:tcPr/>
                </a:tc>
                <a:extLst>
                  <a:ext uri="{0D108BD9-81ED-4DB2-BD59-A6C34878D82A}">
                    <a16:rowId xmlns:a16="http://schemas.microsoft.com/office/drawing/2014/main" val="860490050"/>
                  </a:ext>
                </a:extLst>
              </a:tr>
            </a:tbl>
          </a:graphicData>
        </a:graphic>
      </p:graphicFrame>
    </p:spTree>
    <p:extLst>
      <p:ext uri="{BB962C8B-B14F-4D97-AF65-F5344CB8AC3E}">
        <p14:creationId xmlns:p14="http://schemas.microsoft.com/office/powerpoint/2010/main" val="1664994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DA1766D0-745A-4921-A68E-56642A650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FE7C61-9B79-F69B-9BBF-4267D8B40C6C}"/>
              </a:ext>
            </a:extLst>
          </p:cNvPr>
          <p:cNvSpPr>
            <a:spLocks noGrp="1"/>
          </p:cNvSpPr>
          <p:nvPr>
            <p:ph type="title"/>
          </p:nvPr>
        </p:nvSpPr>
        <p:spPr>
          <a:xfrm>
            <a:off x="1077364" y="720435"/>
            <a:ext cx="4140096" cy="1507375"/>
          </a:xfrm>
        </p:spPr>
        <p:txBody>
          <a:bodyPr>
            <a:normAutofit/>
          </a:bodyPr>
          <a:lstStyle/>
          <a:p>
            <a:r>
              <a:rPr lang="en-US" dirty="0"/>
              <a:t>Conclusion</a:t>
            </a:r>
            <a:endParaRPr lang="en-US"/>
          </a:p>
        </p:txBody>
      </p:sp>
      <p:sp>
        <p:nvSpPr>
          <p:cNvPr id="3" name="Content Placeholder 2">
            <a:extLst>
              <a:ext uri="{FF2B5EF4-FFF2-40B4-BE49-F238E27FC236}">
                <a16:creationId xmlns:a16="http://schemas.microsoft.com/office/drawing/2014/main" id="{0078F6CE-4F0A-2344-C7A3-A1AD0172CA14}"/>
              </a:ext>
            </a:extLst>
          </p:cNvPr>
          <p:cNvSpPr>
            <a:spLocks noGrp="1"/>
          </p:cNvSpPr>
          <p:nvPr>
            <p:ph idx="1"/>
          </p:nvPr>
        </p:nvSpPr>
        <p:spPr>
          <a:xfrm>
            <a:off x="1077364" y="2427316"/>
            <a:ext cx="4140096" cy="3513514"/>
          </a:xfrm>
        </p:spPr>
        <p:txBody>
          <a:bodyPr>
            <a:normAutofit/>
          </a:bodyPr>
          <a:lstStyle/>
          <a:p>
            <a:pPr marL="0" indent="0">
              <a:lnSpc>
                <a:spcPct val="110000"/>
              </a:lnSpc>
              <a:buNone/>
            </a:pPr>
            <a:r>
              <a:rPr lang="en-US" sz="1700"/>
              <a:t>By mapping the Technology Value Stream to plan out the entire process from idea to deployment, and by adopting DevOps methods, development projects can be made much easier, less painful and greatly cut down on non-value time, reducing waste and enhancing performance to ensure that your product is delivered fast and effectively meeting customer expectations, staying within budget, and keeping the company competitive.</a:t>
            </a:r>
          </a:p>
        </p:txBody>
      </p:sp>
      <p:sp>
        <p:nvSpPr>
          <p:cNvPr id="4105" name="Freeform: Shape 4104">
            <a:extLst>
              <a:ext uri="{FF2B5EF4-FFF2-40B4-BE49-F238E27FC236}">
                <a16:creationId xmlns:a16="http://schemas.microsoft.com/office/drawing/2014/main" id="{583F1E3F-D7BF-4DB5-8016-70B9E385E3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794726" y="-906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07" name="Freeform: Shape 4106">
            <a:extLst>
              <a:ext uri="{FF2B5EF4-FFF2-40B4-BE49-F238E27FC236}">
                <a16:creationId xmlns:a16="http://schemas.microsoft.com/office/drawing/2014/main" id="{DD0D3E7A-8DF6-4A78-A03C-86AD69746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3792" y="347088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098" name="Picture 2" descr="DevOps">
            <a:extLst>
              <a:ext uri="{FF2B5EF4-FFF2-40B4-BE49-F238E27FC236}">
                <a16:creationId xmlns:a16="http://schemas.microsoft.com/office/drawing/2014/main" id="{B08A8DBA-2A51-071D-78DE-AE877969AE6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46464" y="2196750"/>
            <a:ext cx="4788861" cy="24644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F65C429-7569-52A2-F294-C2C366378A73}"/>
              </a:ext>
            </a:extLst>
          </p:cNvPr>
          <p:cNvSpPr txBox="1"/>
          <p:nvPr/>
        </p:nvSpPr>
        <p:spPr>
          <a:xfrm>
            <a:off x="7200900" y="4661249"/>
            <a:ext cx="2647950" cy="461665"/>
          </a:xfrm>
          <a:prstGeom prst="rect">
            <a:avLst/>
          </a:prstGeom>
          <a:noFill/>
        </p:spPr>
        <p:txBody>
          <a:bodyPr wrap="square" rtlCol="0">
            <a:spAutoFit/>
          </a:bodyPr>
          <a:lstStyle/>
          <a:p>
            <a:pPr algn="ctr"/>
            <a:r>
              <a:rPr lang="en-US" sz="1200" dirty="0"/>
              <a:t>Image retrieved from:</a:t>
            </a:r>
          </a:p>
          <a:p>
            <a:pPr algn="ctr"/>
            <a:r>
              <a:rPr lang="en-US" sz="1200" dirty="0">
                <a:hlinkClick r:id="rId3"/>
              </a:rPr>
              <a:t>https://devopedia.org/devops</a:t>
            </a:r>
            <a:endParaRPr lang="en-US" sz="1200" dirty="0"/>
          </a:p>
        </p:txBody>
      </p:sp>
    </p:spTree>
    <p:extLst>
      <p:ext uri="{BB962C8B-B14F-4D97-AF65-F5344CB8AC3E}">
        <p14:creationId xmlns:p14="http://schemas.microsoft.com/office/powerpoint/2010/main" val="2273608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CD2-A134-552D-45E0-630DE6A128D4}"/>
              </a:ext>
            </a:extLst>
          </p:cNvPr>
          <p:cNvSpPr>
            <a:spLocks noGrp="1"/>
          </p:cNvSpPr>
          <p:nvPr>
            <p:ph type="title"/>
          </p:nvPr>
        </p:nvSpPr>
        <p:spPr>
          <a:xfrm>
            <a:off x="829711" y="438150"/>
            <a:ext cx="9950103" cy="627610"/>
          </a:xfrm>
        </p:spPr>
        <p:txBody>
          <a:bodyPr/>
          <a:lstStyle/>
          <a:p>
            <a:r>
              <a:rPr lang="en-US" dirty="0"/>
              <a:t>Sources</a:t>
            </a:r>
          </a:p>
        </p:txBody>
      </p:sp>
      <p:sp>
        <p:nvSpPr>
          <p:cNvPr id="4" name="Rectangle 1">
            <a:extLst>
              <a:ext uri="{FF2B5EF4-FFF2-40B4-BE49-F238E27FC236}">
                <a16:creationId xmlns:a16="http://schemas.microsoft.com/office/drawing/2014/main" id="{A7D31EDA-A818-3415-7D14-CAC59A8B1B4D}"/>
              </a:ext>
            </a:extLst>
          </p:cNvPr>
          <p:cNvSpPr>
            <a:spLocks noGrp="1" noChangeArrowheads="1"/>
          </p:cNvSpPr>
          <p:nvPr>
            <p:ph idx="1"/>
          </p:nvPr>
        </p:nvSpPr>
        <p:spPr bwMode="auto">
          <a:xfrm>
            <a:off x="829711" y="849094"/>
            <a:ext cx="8618537"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err="1">
                <a:ln>
                  <a:noFill/>
                </a:ln>
                <a:solidFill>
                  <a:schemeClr val="tx1"/>
                </a:solidFill>
                <a:effectLst/>
              </a:rPr>
              <a:t>Devopedia</a:t>
            </a:r>
            <a:r>
              <a:rPr kumimoji="0" lang="en-US" altLang="en-US" sz="1600" b="0" i="0" u="none" strike="noStrike" cap="none" normalizeH="0" baseline="0" dirty="0">
                <a:ln>
                  <a:noFill/>
                </a:ln>
                <a:solidFill>
                  <a:schemeClr val="tx1"/>
                </a:solidFill>
                <a:effectLst/>
              </a:rPr>
              <a:t>. (2022, February 15). </a:t>
            </a:r>
            <a:r>
              <a:rPr kumimoji="0" lang="en-US" altLang="en-US" sz="1600" b="0" i="1" u="none" strike="noStrike" cap="none" normalizeH="0" baseline="0" dirty="0">
                <a:ln>
                  <a:noFill/>
                </a:ln>
                <a:solidFill>
                  <a:schemeClr val="tx1"/>
                </a:solidFill>
                <a:effectLst/>
              </a:rPr>
              <a:t>DevOps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hlinkClick r:id="rId2"/>
              </a:rPr>
              <a:t>https://devopedia.org/devops</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Kingery, M. (2023, April). </a:t>
            </a:r>
            <a:r>
              <a:rPr kumimoji="0" lang="en-US" altLang="en-US" sz="1600" b="0" i="1" u="none" strike="noStrike" cap="none" normalizeH="0" baseline="0" dirty="0">
                <a:ln>
                  <a:noFill/>
                </a:ln>
                <a:solidFill>
                  <a:schemeClr val="tx1"/>
                </a:solidFill>
                <a:effectLst/>
              </a:rPr>
              <a:t>Using development value stream mapping to identify constraints to DevOps outcomes</a:t>
            </a:r>
            <a:r>
              <a:rPr kumimoji="0" lang="en-US" altLang="en-US" sz="1600" b="0" i="0" u="none" strike="noStrike" cap="none" normalizeH="0" baseline="0" dirty="0">
                <a:ln>
                  <a:noFill/>
                </a:ln>
                <a:solidFill>
                  <a:schemeClr val="tx1"/>
                </a:solidFill>
                <a:effectLst/>
              </a:rPr>
              <a:t>. AWS Prescriptive Guidance. </a:t>
            </a:r>
            <a:r>
              <a:rPr kumimoji="0" lang="en-US" altLang="en-US" sz="1600" b="0" i="0" u="none" strike="noStrike" cap="none" normalizeH="0" baseline="0" dirty="0">
                <a:ln>
                  <a:noFill/>
                </a:ln>
                <a:solidFill>
                  <a:schemeClr val="tx1"/>
                </a:solidFill>
                <a:effectLst/>
                <a:hlinkClick r:id="rId3"/>
              </a:rPr>
              <a:t>https://docs.aws.amazon.com/prescriptive-guidance/latest/strategy-devops-value-stream-mapping/introduction.html</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Purdue University. (2024, November 7). </a:t>
            </a:r>
            <a:r>
              <a:rPr kumimoji="0" lang="en-US" altLang="en-US" sz="1600" b="0" i="1" u="none" strike="noStrike" cap="none" normalizeH="0" baseline="0" dirty="0">
                <a:ln>
                  <a:noFill/>
                </a:ln>
                <a:solidFill>
                  <a:schemeClr val="tx1"/>
                </a:solidFill>
                <a:effectLst/>
              </a:rPr>
              <a:t>Value stream mapping: The search for adding value and eliminating waste</a:t>
            </a:r>
            <a:r>
              <a:rPr kumimoji="0" lang="en-US" altLang="en-US" sz="1600" b="0" i="0" u="none" strike="noStrike" cap="none" normalizeH="0" baseline="0" dirty="0">
                <a:ln>
                  <a:noFill/>
                </a:ln>
                <a:solidFill>
                  <a:schemeClr val="tx1"/>
                </a:solidFill>
                <a:effectLst/>
              </a:rPr>
              <a:t>. Purdue Lean Six Sigma Online. </a:t>
            </a:r>
            <a:r>
              <a:rPr kumimoji="0" lang="en-US" altLang="en-US" sz="1600" b="0" i="0" u="none" strike="noStrike" cap="none" normalizeH="0" baseline="0" dirty="0">
                <a:ln>
                  <a:noFill/>
                </a:ln>
                <a:solidFill>
                  <a:schemeClr val="tx1"/>
                </a:solidFill>
                <a:effectLst/>
                <a:hlinkClick r:id="rId4"/>
              </a:rPr>
              <a:t>https://www.purdue.edu/leansixsigmaonline/blog/value-stream-mapping/</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Kaufman Global. (2017, October 1). </a:t>
            </a:r>
            <a:r>
              <a:rPr kumimoji="0" lang="en-US" altLang="en-US" sz="1600" b="0" i="1" u="none" strike="noStrike" cap="none" normalizeH="0" baseline="0" dirty="0">
                <a:ln>
                  <a:noFill/>
                </a:ln>
                <a:solidFill>
                  <a:schemeClr val="tx1"/>
                </a:solidFill>
                <a:effectLst/>
              </a:rPr>
              <a:t>Lead time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hlinkClick r:id="rId5"/>
              </a:rPr>
              <a:t>https://www.kaufmanglobal.com/glossary/lead-time/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600" dirty="0"/>
          </a:p>
          <a:p>
            <a:pPr marL="0" indent="0" eaLnBrk="0" fontAlgn="base" hangingPunct="0">
              <a:lnSpc>
                <a:spcPct val="100000"/>
              </a:lnSpc>
              <a:spcBef>
                <a:spcPct val="0"/>
              </a:spcBef>
              <a:spcAft>
                <a:spcPct val="0"/>
              </a:spcAft>
              <a:buNone/>
            </a:pPr>
            <a:r>
              <a:rPr lang="en-US" sz="1600" dirty="0"/>
              <a:t>Kim, G., Humble, J., Debois, P., &amp; Willis, J. (2021). The DevOps handbook: How to create world-class agility, reliability, &amp; security in technology organizations (2nd ed.). IT Revolution Press. (Chapters 1-4)</a:t>
            </a:r>
          </a:p>
          <a:p>
            <a:pPr marL="0" indent="0" eaLnBrk="0" fontAlgn="base" hangingPunct="0">
              <a:lnSpc>
                <a:spcPct val="100000"/>
              </a:lnSpc>
              <a:spcBef>
                <a:spcPct val="0"/>
              </a:spcBef>
              <a:spcAft>
                <a:spcPct val="0"/>
              </a:spcAft>
              <a:buNone/>
            </a:pPr>
            <a:endParaRPr lang="en-US" sz="1600" dirty="0"/>
          </a:p>
          <a:p>
            <a:pPr marL="0" indent="0" eaLnBrk="0" fontAlgn="base" hangingPunct="0">
              <a:lnSpc>
                <a:spcPct val="100000"/>
              </a:lnSpc>
              <a:spcBef>
                <a:spcPct val="0"/>
              </a:spcBef>
              <a:spcAft>
                <a:spcPct val="0"/>
              </a:spcAft>
              <a:buNone/>
            </a:pPr>
            <a:r>
              <a:rPr lang="en-US" sz="1600" dirty="0" err="1"/>
              <a:t>Bruneaux</a:t>
            </a:r>
            <a:r>
              <a:rPr lang="en-US" sz="1600" dirty="0"/>
              <a:t>, T. (2025, October 30). Value stream mapping: A complete guide for software engineering teams. DX. </a:t>
            </a:r>
            <a:r>
              <a:rPr lang="en-US" sz="1600" dirty="0">
                <a:hlinkClick r:id="rId6"/>
              </a:rPr>
              <a:t>https://</a:t>
            </a:r>
            <a:r>
              <a:rPr lang="en-US" sz="1600" dirty="0" err="1">
                <a:hlinkClick r:id="rId6"/>
              </a:rPr>
              <a:t>getdx.com</a:t>
            </a:r>
            <a:r>
              <a:rPr lang="en-US" sz="1600" dirty="0">
                <a:hlinkClick r:id="rId6"/>
              </a:rPr>
              <a:t>/blog/value-stream-analysis/</a:t>
            </a:r>
            <a:endParaRPr lang="en-US" sz="1600" dirty="0"/>
          </a:p>
          <a:p>
            <a:pPr marL="0" indent="0" eaLnBrk="0" fontAlgn="base" hangingPunct="0">
              <a:lnSpc>
                <a:spcPct val="100000"/>
              </a:lnSpc>
              <a:spcBef>
                <a:spcPct val="0"/>
              </a:spcBef>
              <a:spcAft>
                <a:spcPct val="0"/>
              </a:spcAft>
              <a:buNone/>
            </a:pPr>
            <a:endParaRPr lang="en-US" sz="1600" dirty="0"/>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0286066"/>
      </p:ext>
    </p:extLst>
  </p:cSld>
  <p:clrMapOvr>
    <a:masterClrMapping/>
  </p:clrMapOvr>
</p:sld>
</file>

<file path=ppt/theme/theme1.xml><?xml version="1.0" encoding="utf-8"?>
<a:theme xmlns:a="http://schemas.openxmlformats.org/drawingml/2006/main" name="BlocksVTI">
  <a:themeElements>
    <a:clrScheme name="Blocks">
      <a:dk1>
        <a:sysClr val="windowText" lastClr="000000"/>
      </a:dk1>
      <a:lt1>
        <a:sysClr val="window" lastClr="FFFFFF"/>
      </a:lt1>
      <a:dk2>
        <a:srgbClr val="1B3843"/>
      </a:dk2>
      <a:lt2>
        <a:srgbClr val="F2F3F1"/>
      </a:lt2>
      <a:accent1>
        <a:srgbClr val="7A8592"/>
      </a:accent1>
      <a:accent2>
        <a:srgbClr val="8C8C96"/>
      </a:accent2>
      <a:accent3>
        <a:srgbClr val="7A6C76"/>
      </a:accent3>
      <a:accent4>
        <a:srgbClr val="A7AA9D"/>
      </a:accent4>
      <a:accent5>
        <a:srgbClr val="63787F"/>
      </a:accent5>
      <a:accent6>
        <a:srgbClr val="889DA5"/>
      </a:accent6>
      <a:hlink>
        <a:srgbClr val="71819B"/>
      </a:hlink>
      <a:folHlink>
        <a:srgbClr val="7E8B85"/>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sVTI" id="{31656FE6-20D8-4105-85EA-706EC9332BE9}" vid="{039DFFC9-9B25-4063-9235-B287A446F509}"/>
    </a:ext>
  </a:extLst>
</a:theme>
</file>

<file path=docProps/app.xml><?xml version="1.0" encoding="utf-8"?>
<Properties xmlns="http://schemas.openxmlformats.org/officeDocument/2006/extended-properties" xmlns:vt="http://schemas.openxmlformats.org/officeDocument/2006/docPropsVTypes">
  <TotalTime>1836</TotalTime>
  <Words>1301</Words>
  <Application>Microsoft Macintosh PowerPoint</Application>
  <PresentationFormat>Widescreen</PresentationFormat>
  <Paragraphs>81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Avenir Next LT Pro</vt:lpstr>
      <vt:lpstr>Avenir Next LT Pro Light</vt:lpstr>
      <vt:lpstr>BlocksVTI</vt:lpstr>
      <vt:lpstr>The Technology Value Stream</vt:lpstr>
      <vt:lpstr>Introduction To The Technology Value Stream</vt:lpstr>
      <vt:lpstr>Examples of Value Stream Mapping</vt:lpstr>
      <vt:lpstr>Defining Lead Time vs. Processing Time</vt:lpstr>
      <vt:lpstr>Lead Time vs Processing Time</vt:lpstr>
      <vt:lpstr>The Common Scenario: Deployment Lead Times Requiring Months</vt:lpstr>
      <vt:lpstr>The DevOps Ideal: Deployment Lead Times of Minutes</vt:lpstr>
      <vt:lpstr>DevOps Ideal vs Common Scenario Value Streams</vt:lpstr>
      <vt:lpstr>Common Scenario vs DevOps Ideal Comparison Chart</vt:lpstr>
      <vt:lpstr>Conclusion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Joel Atkinson</dc:creator>
  <cp:lastModifiedBy>Joel Atkinson</cp:lastModifiedBy>
  <cp:revision>1</cp:revision>
  <dcterms:created xsi:type="dcterms:W3CDTF">2026-01-07T17:31:14Z</dcterms:created>
  <dcterms:modified xsi:type="dcterms:W3CDTF">2026-01-09T00:07:39Z</dcterms:modified>
</cp:coreProperties>
</file>